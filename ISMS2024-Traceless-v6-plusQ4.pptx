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74" r:id="rId3"/>
    <p:sldId id="257" r:id="rId4"/>
    <p:sldId id="258" r:id="rId5"/>
    <p:sldId id="259" r:id="rId6"/>
    <p:sldId id="266" r:id="rId7"/>
    <p:sldId id="267" r:id="rId8"/>
    <p:sldId id="280" r:id="rId9"/>
    <p:sldId id="268" r:id="rId10"/>
    <p:sldId id="273" r:id="rId11"/>
    <p:sldId id="276" r:id="rId12"/>
    <p:sldId id="277" r:id="rId13"/>
    <p:sldId id="275" r:id="rId14"/>
    <p:sldId id="260" r:id="rId15"/>
    <p:sldId id="26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9" autoAdjust="0"/>
    <p:restoredTop sz="94660"/>
  </p:normalViewPr>
  <p:slideViewPr>
    <p:cSldViewPr snapToGrid="0">
      <p:cViewPr varScale="1">
        <p:scale>
          <a:sx n="63" d="100"/>
          <a:sy n="63" d="100"/>
        </p:scale>
        <p:origin x="732" y="6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0D3041-B6AB-4A7F-B83A-3B905EC5B5F3}" type="doc">
      <dgm:prSet loTypeId="urn:microsoft.com/office/officeart/2005/8/layout/hList9" loCatId="list" qsTypeId="urn:microsoft.com/office/officeart/2005/8/quickstyle/simple1" qsCatId="simple" csTypeId="urn:microsoft.com/office/officeart/2005/8/colors/accent1_2" csCatId="accent1" phldr="1"/>
      <dgm:spPr/>
      <dgm:t>
        <a:bodyPr/>
        <a:lstStyle/>
        <a:p>
          <a:endParaRPr lang="en-US"/>
        </a:p>
      </dgm:t>
    </dgm:pt>
    <dgm:pt modelId="{7585A40A-A9CC-48A7-9848-DC34BF045CD1}">
      <dgm:prSet phldrT="[Text]"/>
      <dgm:spPr/>
      <dgm:t>
        <a:bodyPr/>
        <a:lstStyle/>
        <a:p>
          <a:r>
            <a:rPr lang="en-US" dirty="0"/>
            <a:t>Calc</a:t>
          </a:r>
        </a:p>
      </dgm:t>
    </dgm:pt>
    <dgm:pt modelId="{B4ABF3CB-FCE8-4759-AC49-A69AD05AE0BE}" type="parTrans" cxnId="{2DD67C51-94B2-4A27-9D82-91AEB2592388}">
      <dgm:prSet/>
      <dgm:spPr/>
      <dgm:t>
        <a:bodyPr/>
        <a:lstStyle/>
        <a:p>
          <a:endParaRPr lang="en-US"/>
        </a:p>
      </dgm:t>
    </dgm:pt>
    <dgm:pt modelId="{8848E695-79B3-4ED0-B21F-88C62B2E8952}" type="sibTrans" cxnId="{2DD67C51-94B2-4A27-9D82-91AEB2592388}">
      <dgm:prSet/>
      <dgm:spPr/>
      <dgm:t>
        <a:bodyPr/>
        <a:lstStyle/>
        <a:p>
          <a:endParaRPr lang="en-US"/>
        </a:p>
      </dgm:t>
    </dgm:pt>
    <dgm:pt modelId="{FECB29C1-2BE0-4D16-B3EB-C3C33F5F2ED2}">
      <dgm:prSet phldrT="[Text]"/>
      <dgm:spPr/>
      <dgm:t>
        <a:bodyPr/>
        <a:lstStyle/>
        <a:p>
          <a:r>
            <a:rPr lang="en-US" dirty="0"/>
            <a:t>For small molecules, coupled-cluster CCSD(T) level can be 1 kcal/mol accurate for energies of ground and excited states. and for dipole moments.</a:t>
          </a:r>
        </a:p>
      </dgm:t>
    </dgm:pt>
    <dgm:pt modelId="{ACB3ECF0-A297-450B-9ADE-BC56D79B42FC}" type="parTrans" cxnId="{0DED606E-D6C4-4723-B9AF-B948A96F5FBA}">
      <dgm:prSet/>
      <dgm:spPr/>
      <dgm:t>
        <a:bodyPr/>
        <a:lstStyle/>
        <a:p>
          <a:endParaRPr lang="en-US"/>
        </a:p>
      </dgm:t>
    </dgm:pt>
    <dgm:pt modelId="{06C27117-71DC-4F47-A75E-723D174E8040}" type="sibTrans" cxnId="{0DED606E-D6C4-4723-B9AF-B948A96F5FBA}">
      <dgm:prSet/>
      <dgm:spPr/>
      <dgm:t>
        <a:bodyPr/>
        <a:lstStyle/>
        <a:p>
          <a:endParaRPr lang="en-US"/>
        </a:p>
      </dgm:t>
    </dgm:pt>
    <dgm:pt modelId="{61AD3B87-0FD4-454C-8A0D-463861E75D3D}">
      <dgm:prSet phldrT="[Text]"/>
      <dgm:spPr/>
      <dgm:t>
        <a:bodyPr/>
        <a:lstStyle/>
        <a:p>
          <a:r>
            <a:rPr lang="en-US" dirty="0"/>
            <a:t>Higher moments like the quadrupole octupole and higher which make contributions to Rydberg spectra, birefringence and other properties. Ab-initio programs typically report “standard” forms (coordinate density integrals) not spectroscopic traceless moments. .                          </a:t>
          </a:r>
        </a:p>
      </dgm:t>
    </dgm:pt>
    <dgm:pt modelId="{62A3224E-2402-42FC-8622-682907A5F381}" type="parTrans" cxnId="{1094318C-FAF4-42E0-BFED-3D9BB18809DF}">
      <dgm:prSet/>
      <dgm:spPr/>
      <dgm:t>
        <a:bodyPr/>
        <a:lstStyle/>
        <a:p>
          <a:endParaRPr lang="en-US"/>
        </a:p>
      </dgm:t>
    </dgm:pt>
    <dgm:pt modelId="{2A47A8DF-5935-4803-A57D-FF258C9FD326}" type="sibTrans" cxnId="{1094318C-FAF4-42E0-BFED-3D9BB18809DF}">
      <dgm:prSet/>
      <dgm:spPr/>
      <dgm:t>
        <a:bodyPr/>
        <a:lstStyle/>
        <a:p>
          <a:endParaRPr lang="en-US"/>
        </a:p>
      </dgm:t>
    </dgm:pt>
    <dgm:pt modelId="{F74D25C0-CDAE-4A71-AE00-208EEF43EC16}">
      <dgm:prSet phldrT="[Text]"/>
      <dgm:spPr/>
      <dgm:t>
        <a:bodyPr/>
        <a:lstStyle/>
        <a:p>
          <a:r>
            <a:rPr lang="en-US" dirty="0"/>
            <a:t>Spec</a:t>
          </a:r>
        </a:p>
      </dgm:t>
    </dgm:pt>
    <dgm:pt modelId="{19905750-552B-4C68-8832-C9BFC5B1C11B}" type="parTrans" cxnId="{E1BDA53B-0277-4C87-9D12-60A803FCB2F0}">
      <dgm:prSet/>
      <dgm:spPr/>
      <dgm:t>
        <a:bodyPr/>
        <a:lstStyle/>
        <a:p>
          <a:endParaRPr lang="en-US"/>
        </a:p>
      </dgm:t>
    </dgm:pt>
    <dgm:pt modelId="{C664A8A6-E250-45AF-B129-A1E73E860AC2}" type="sibTrans" cxnId="{E1BDA53B-0277-4C87-9D12-60A803FCB2F0}">
      <dgm:prSet/>
      <dgm:spPr/>
      <dgm:t>
        <a:bodyPr/>
        <a:lstStyle/>
        <a:p>
          <a:endParaRPr lang="en-US"/>
        </a:p>
      </dgm:t>
    </dgm:pt>
    <dgm:pt modelId="{5D6A69F2-4F62-4EE4-ACC7-B10571423A8C}">
      <dgm:prSet phldrT="[Text]"/>
      <dgm:spPr/>
      <dgm:t>
        <a:bodyPr/>
        <a:lstStyle/>
        <a:p>
          <a:r>
            <a:rPr lang="en-US" dirty="0"/>
            <a:t>Spectroscopic analysis is a model driven process that requires a set of independent parameters adequate for the data. There should be no linear dependences among the parameters, and physical relevance. Spectroscopic analysis is a process of finding the simplest representation of data at  current and future experimental resolution.</a:t>
          </a:r>
        </a:p>
      </dgm:t>
    </dgm:pt>
    <dgm:pt modelId="{DEA781AD-311B-4D40-8890-C9548899D2C3}" type="parTrans" cxnId="{5C73ED6E-CB42-4BA6-A95C-7678E6511E3C}">
      <dgm:prSet/>
      <dgm:spPr/>
      <dgm:t>
        <a:bodyPr/>
        <a:lstStyle/>
        <a:p>
          <a:endParaRPr lang="en-US"/>
        </a:p>
      </dgm:t>
    </dgm:pt>
    <dgm:pt modelId="{DB25E326-5A1D-4584-B56A-9C8ABC689E59}" type="sibTrans" cxnId="{5C73ED6E-CB42-4BA6-A95C-7678E6511E3C}">
      <dgm:prSet/>
      <dgm:spPr/>
      <dgm:t>
        <a:bodyPr/>
        <a:lstStyle/>
        <a:p>
          <a:endParaRPr lang="en-US"/>
        </a:p>
      </dgm:t>
    </dgm:pt>
    <dgm:pt modelId="{B0C08C16-E3E9-44A2-9921-C5E05923089B}">
      <dgm:prSet phldrT="[Text]"/>
      <dgm:spPr/>
      <dgm:t>
        <a:bodyPr/>
        <a:lstStyle/>
        <a:p>
          <a:r>
            <a:rPr lang="en-US" dirty="0"/>
            <a:t>There is a long-standing disagreement on the role of standard (traced) and traceless electronic descriptions in experiments. Experimental and theoretical work supports the need for traceless expansions (Sonia </a:t>
          </a:r>
          <a:r>
            <a:rPr lang="en-US" dirty="0" err="1"/>
            <a:t>Coriani</a:t>
          </a:r>
          <a:r>
            <a:rPr lang="en-US" dirty="0"/>
            <a:t> and others)</a:t>
          </a:r>
        </a:p>
      </dgm:t>
    </dgm:pt>
    <dgm:pt modelId="{C5F411F0-1683-4EFD-BBC5-06E968C1D4BD}" type="parTrans" cxnId="{C3A866BB-0761-4A88-9720-5AFFE8CA279F}">
      <dgm:prSet/>
      <dgm:spPr/>
      <dgm:t>
        <a:bodyPr/>
        <a:lstStyle/>
        <a:p>
          <a:endParaRPr lang="en-US"/>
        </a:p>
      </dgm:t>
    </dgm:pt>
    <dgm:pt modelId="{2755752D-6C9A-482F-8F2A-532222C589D2}" type="sibTrans" cxnId="{C3A866BB-0761-4A88-9720-5AFFE8CA279F}">
      <dgm:prSet/>
      <dgm:spPr/>
      <dgm:t>
        <a:bodyPr/>
        <a:lstStyle/>
        <a:p>
          <a:endParaRPr lang="en-US"/>
        </a:p>
      </dgm:t>
    </dgm:pt>
    <dgm:pt modelId="{E82E4155-F947-44E4-8A9F-26EA35D7BBC2}" type="pres">
      <dgm:prSet presAssocID="{440D3041-B6AB-4A7F-B83A-3B905EC5B5F3}" presName="list" presStyleCnt="0">
        <dgm:presLayoutVars>
          <dgm:dir/>
          <dgm:animLvl val="lvl"/>
        </dgm:presLayoutVars>
      </dgm:prSet>
      <dgm:spPr/>
    </dgm:pt>
    <dgm:pt modelId="{4E513337-813E-4C61-A697-3BE924A2BF6B}" type="pres">
      <dgm:prSet presAssocID="{7585A40A-A9CC-48A7-9848-DC34BF045CD1}" presName="posSpace" presStyleCnt="0"/>
      <dgm:spPr/>
    </dgm:pt>
    <dgm:pt modelId="{5CF0311A-6051-4BB9-BAD5-99DB9CCB470A}" type="pres">
      <dgm:prSet presAssocID="{7585A40A-A9CC-48A7-9848-DC34BF045CD1}" presName="vertFlow" presStyleCnt="0"/>
      <dgm:spPr/>
    </dgm:pt>
    <dgm:pt modelId="{7F6AC22C-00A6-43F1-8B18-350F213A8CE6}" type="pres">
      <dgm:prSet presAssocID="{7585A40A-A9CC-48A7-9848-DC34BF045CD1}" presName="topSpace" presStyleCnt="0"/>
      <dgm:spPr/>
    </dgm:pt>
    <dgm:pt modelId="{11F75BF0-7E82-4ACD-8061-1C028C85CCC8}" type="pres">
      <dgm:prSet presAssocID="{7585A40A-A9CC-48A7-9848-DC34BF045CD1}" presName="firstComp" presStyleCnt="0"/>
      <dgm:spPr/>
    </dgm:pt>
    <dgm:pt modelId="{8AB4EEBC-AF34-4FB8-8CAE-AA30FE1289AA}" type="pres">
      <dgm:prSet presAssocID="{7585A40A-A9CC-48A7-9848-DC34BF045CD1}" presName="firstChild" presStyleLbl="bgAccFollowNode1" presStyleIdx="0" presStyleCnt="4" custLinFactNeighborX="2599" custLinFactNeighborY="3584"/>
      <dgm:spPr/>
    </dgm:pt>
    <dgm:pt modelId="{527BF15F-3577-4A4D-9920-300532728612}" type="pres">
      <dgm:prSet presAssocID="{7585A40A-A9CC-48A7-9848-DC34BF045CD1}" presName="firstChildTx" presStyleLbl="bgAccFollowNode1" presStyleIdx="0" presStyleCnt="4">
        <dgm:presLayoutVars>
          <dgm:bulletEnabled val="1"/>
        </dgm:presLayoutVars>
      </dgm:prSet>
      <dgm:spPr/>
    </dgm:pt>
    <dgm:pt modelId="{2A56E3F3-4017-47F7-968E-58E93740F6F6}" type="pres">
      <dgm:prSet presAssocID="{61AD3B87-0FD4-454C-8A0D-463861E75D3D}" presName="comp" presStyleCnt="0"/>
      <dgm:spPr/>
    </dgm:pt>
    <dgm:pt modelId="{AB61322E-E30F-4D77-8316-C5EAF1A6AE97}" type="pres">
      <dgm:prSet presAssocID="{61AD3B87-0FD4-454C-8A0D-463861E75D3D}" presName="child" presStyleLbl="bgAccFollowNode1" presStyleIdx="1" presStyleCnt="4" custLinFactNeighborY="590"/>
      <dgm:spPr/>
    </dgm:pt>
    <dgm:pt modelId="{42D985F8-FF44-4C11-BAEE-15A47BA70AA3}" type="pres">
      <dgm:prSet presAssocID="{61AD3B87-0FD4-454C-8A0D-463861E75D3D}" presName="childTx" presStyleLbl="bgAccFollowNode1" presStyleIdx="1" presStyleCnt="4">
        <dgm:presLayoutVars>
          <dgm:bulletEnabled val="1"/>
        </dgm:presLayoutVars>
      </dgm:prSet>
      <dgm:spPr/>
    </dgm:pt>
    <dgm:pt modelId="{95FA5A22-15A6-4A5A-821B-D4FC6764B44A}" type="pres">
      <dgm:prSet presAssocID="{7585A40A-A9CC-48A7-9848-DC34BF045CD1}" presName="negSpace" presStyleCnt="0"/>
      <dgm:spPr/>
    </dgm:pt>
    <dgm:pt modelId="{03D2D413-4AEB-45E4-82B9-59CAB9D3D4B2}" type="pres">
      <dgm:prSet presAssocID="{7585A40A-A9CC-48A7-9848-DC34BF045CD1}" presName="circle" presStyleLbl="node1" presStyleIdx="0" presStyleCnt="2" custLinFactNeighborX="-1635" custLinFactNeighborY="23917"/>
      <dgm:spPr/>
    </dgm:pt>
    <dgm:pt modelId="{DBD74BE9-EA25-462D-B783-917178DB34AC}" type="pres">
      <dgm:prSet presAssocID="{8848E695-79B3-4ED0-B21F-88C62B2E8952}" presName="transSpace" presStyleCnt="0"/>
      <dgm:spPr/>
    </dgm:pt>
    <dgm:pt modelId="{E9B8B6A1-E6E1-4777-8591-3345A616D1D4}" type="pres">
      <dgm:prSet presAssocID="{F74D25C0-CDAE-4A71-AE00-208EEF43EC16}" presName="posSpace" presStyleCnt="0"/>
      <dgm:spPr/>
    </dgm:pt>
    <dgm:pt modelId="{45F79147-E2A1-4FEB-BF55-F7E7484344DD}" type="pres">
      <dgm:prSet presAssocID="{F74D25C0-CDAE-4A71-AE00-208EEF43EC16}" presName="vertFlow" presStyleCnt="0"/>
      <dgm:spPr/>
    </dgm:pt>
    <dgm:pt modelId="{3298B38E-E0BD-4DCA-A22E-3718AAC7CFC4}" type="pres">
      <dgm:prSet presAssocID="{F74D25C0-CDAE-4A71-AE00-208EEF43EC16}" presName="topSpace" presStyleCnt="0"/>
      <dgm:spPr/>
    </dgm:pt>
    <dgm:pt modelId="{86FE42C8-1901-4C73-BB0D-74E166773CA1}" type="pres">
      <dgm:prSet presAssocID="{F74D25C0-CDAE-4A71-AE00-208EEF43EC16}" presName="firstComp" presStyleCnt="0"/>
      <dgm:spPr/>
    </dgm:pt>
    <dgm:pt modelId="{62FAA7ED-B0CE-42E8-95FF-04AD2D3DA16E}" type="pres">
      <dgm:prSet presAssocID="{F74D25C0-CDAE-4A71-AE00-208EEF43EC16}" presName="firstChild" presStyleLbl="bgAccFollowNode1" presStyleIdx="2" presStyleCnt="4"/>
      <dgm:spPr/>
    </dgm:pt>
    <dgm:pt modelId="{DD99DA07-ED33-4C7B-88B1-8BBB2981E8BA}" type="pres">
      <dgm:prSet presAssocID="{F74D25C0-CDAE-4A71-AE00-208EEF43EC16}" presName="firstChildTx" presStyleLbl="bgAccFollowNode1" presStyleIdx="2" presStyleCnt="4">
        <dgm:presLayoutVars>
          <dgm:bulletEnabled val="1"/>
        </dgm:presLayoutVars>
      </dgm:prSet>
      <dgm:spPr/>
    </dgm:pt>
    <dgm:pt modelId="{8B54D255-AC2C-46BF-9123-2FDE749F4BC2}" type="pres">
      <dgm:prSet presAssocID="{B0C08C16-E3E9-44A2-9921-C5E05923089B}" presName="comp" presStyleCnt="0"/>
      <dgm:spPr/>
    </dgm:pt>
    <dgm:pt modelId="{34E8414F-33E4-4DEC-B01C-550157BDFAA6}" type="pres">
      <dgm:prSet presAssocID="{B0C08C16-E3E9-44A2-9921-C5E05923089B}" presName="child" presStyleLbl="bgAccFollowNode1" presStyleIdx="3" presStyleCnt="4"/>
      <dgm:spPr/>
    </dgm:pt>
    <dgm:pt modelId="{11431AD6-6DA4-44F0-860C-71C6BE3A6BF2}" type="pres">
      <dgm:prSet presAssocID="{B0C08C16-E3E9-44A2-9921-C5E05923089B}" presName="childTx" presStyleLbl="bgAccFollowNode1" presStyleIdx="3" presStyleCnt="4">
        <dgm:presLayoutVars>
          <dgm:bulletEnabled val="1"/>
        </dgm:presLayoutVars>
      </dgm:prSet>
      <dgm:spPr/>
    </dgm:pt>
    <dgm:pt modelId="{47EEC79A-33C1-4239-979C-B5BA44EA9EC4}" type="pres">
      <dgm:prSet presAssocID="{F74D25C0-CDAE-4A71-AE00-208EEF43EC16}" presName="negSpace" presStyleCnt="0"/>
      <dgm:spPr/>
    </dgm:pt>
    <dgm:pt modelId="{879FF005-9AC8-486C-8D7A-9BD4065267CC}" type="pres">
      <dgm:prSet presAssocID="{F74D25C0-CDAE-4A71-AE00-208EEF43EC16}" presName="circle" presStyleLbl="node1" presStyleIdx="1" presStyleCnt="2" custLinFactNeighborX="-139" custLinFactNeighborY="22691"/>
      <dgm:spPr/>
    </dgm:pt>
  </dgm:ptLst>
  <dgm:cxnLst>
    <dgm:cxn modelId="{BA505304-918A-4828-8771-1C17B189F155}" type="presOf" srcId="{FECB29C1-2BE0-4D16-B3EB-C3C33F5F2ED2}" destId="{8AB4EEBC-AF34-4FB8-8CAE-AA30FE1289AA}" srcOrd="0" destOrd="0" presId="urn:microsoft.com/office/officeart/2005/8/layout/hList9"/>
    <dgm:cxn modelId="{948AFF04-9FC0-4EFF-BF75-E9E7044EE279}" type="presOf" srcId="{B0C08C16-E3E9-44A2-9921-C5E05923089B}" destId="{34E8414F-33E4-4DEC-B01C-550157BDFAA6}" srcOrd="0" destOrd="0" presId="urn:microsoft.com/office/officeart/2005/8/layout/hList9"/>
    <dgm:cxn modelId="{E1BDA53B-0277-4C87-9D12-60A803FCB2F0}" srcId="{440D3041-B6AB-4A7F-B83A-3B905EC5B5F3}" destId="{F74D25C0-CDAE-4A71-AE00-208EEF43EC16}" srcOrd="1" destOrd="0" parTransId="{19905750-552B-4C68-8832-C9BFC5B1C11B}" sibTransId="{C664A8A6-E250-45AF-B129-A1E73E860AC2}"/>
    <dgm:cxn modelId="{045F5749-91B2-4DC2-948D-81DDCCC23B34}" type="presOf" srcId="{61AD3B87-0FD4-454C-8A0D-463861E75D3D}" destId="{42D985F8-FF44-4C11-BAEE-15A47BA70AA3}" srcOrd="1" destOrd="0" presId="urn:microsoft.com/office/officeart/2005/8/layout/hList9"/>
    <dgm:cxn modelId="{0DED606E-D6C4-4723-B9AF-B948A96F5FBA}" srcId="{7585A40A-A9CC-48A7-9848-DC34BF045CD1}" destId="{FECB29C1-2BE0-4D16-B3EB-C3C33F5F2ED2}" srcOrd="0" destOrd="0" parTransId="{ACB3ECF0-A297-450B-9ADE-BC56D79B42FC}" sibTransId="{06C27117-71DC-4F47-A75E-723D174E8040}"/>
    <dgm:cxn modelId="{5C73ED6E-CB42-4BA6-A95C-7678E6511E3C}" srcId="{F74D25C0-CDAE-4A71-AE00-208EEF43EC16}" destId="{5D6A69F2-4F62-4EE4-ACC7-B10571423A8C}" srcOrd="0" destOrd="0" parTransId="{DEA781AD-311B-4D40-8890-C9548899D2C3}" sibTransId="{DB25E326-5A1D-4584-B56A-9C8ABC689E59}"/>
    <dgm:cxn modelId="{2DD67C51-94B2-4A27-9D82-91AEB2592388}" srcId="{440D3041-B6AB-4A7F-B83A-3B905EC5B5F3}" destId="{7585A40A-A9CC-48A7-9848-DC34BF045CD1}" srcOrd="0" destOrd="0" parTransId="{B4ABF3CB-FCE8-4759-AC49-A69AD05AE0BE}" sibTransId="{8848E695-79B3-4ED0-B21F-88C62B2E8952}"/>
    <dgm:cxn modelId="{D2F68777-C458-42AF-83BD-32A93A4568D2}" type="presOf" srcId="{FECB29C1-2BE0-4D16-B3EB-C3C33F5F2ED2}" destId="{527BF15F-3577-4A4D-9920-300532728612}" srcOrd="1" destOrd="0" presId="urn:microsoft.com/office/officeart/2005/8/layout/hList9"/>
    <dgm:cxn modelId="{1094318C-FAF4-42E0-BFED-3D9BB18809DF}" srcId="{7585A40A-A9CC-48A7-9848-DC34BF045CD1}" destId="{61AD3B87-0FD4-454C-8A0D-463861E75D3D}" srcOrd="1" destOrd="0" parTransId="{62A3224E-2402-42FC-8622-682907A5F381}" sibTransId="{2A47A8DF-5935-4803-A57D-FF258C9FD326}"/>
    <dgm:cxn modelId="{2B3ED89B-5EDE-4455-9223-CB2B89B58B6B}" type="presOf" srcId="{B0C08C16-E3E9-44A2-9921-C5E05923089B}" destId="{11431AD6-6DA4-44F0-860C-71C6BE3A6BF2}" srcOrd="1" destOrd="0" presId="urn:microsoft.com/office/officeart/2005/8/layout/hList9"/>
    <dgm:cxn modelId="{F25331B6-B6CF-46F3-AC03-C575EEA50C80}" type="presOf" srcId="{61AD3B87-0FD4-454C-8A0D-463861E75D3D}" destId="{AB61322E-E30F-4D77-8316-C5EAF1A6AE97}" srcOrd="0" destOrd="0" presId="urn:microsoft.com/office/officeart/2005/8/layout/hList9"/>
    <dgm:cxn modelId="{C3A866BB-0761-4A88-9720-5AFFE8CA279F}" srcId="{F74D25C0-CDAE-4A71-AE00-208EEF43EC16}" destId="{B0C08C16-E3E9-44A2-9921-C5E05923089B}" srcOrd="1" destOrd="0" parTransId="{C5F411F0-1683-4EFD-BBC5-06E968C1D4BD}" sibTransId="{2755752D-6C9A-482F-8F2A-532222C589D2}"/>
    <dgm:cxn modelId="{6B2A58C8-B116-46AA-8BDE-6A6DABC59134}" type="presOf" srcId="{F74D25C0-CDAE-4A71-AE00-208EEF43EC16}" destId="{879FF005-9AC8-486C-8D7A-9BD4065267CC}" srcOrd="0" destOrd="0" presId="urn:microsoft.com/office/officeart/2005/8/layout/hList9"/>
    <dgm:cxn modelId="{5E5357E0-623E-4AC8-B98F-85E0E5FDAB82}" type="presOf" srcId="{440D3041-B6AB-4A7F-B83A-3B905EC5B5F3}" destId="{E82E4155-F947-44E4-8A9F-26EA35D7BBC2}" srcOrd="0" destOrd="0" presId="urn:microsoft.com/office/officeart/2005/8/layout/hList9"/>
    <dgm:cxn modelId="{441203ED-72DD-4DBD-8DC7-8B0B3B30EC02}" type="presOf" srcId="{5D6A69F2-4F62-4EE4-ACC7-B10571423A8C}" destId="{62FAA7ED-B0CE-42E8-95FF-04AD2D3DA16E}" srcOrd="0" destOrd="0" presId="urn:microsoft.com/office/officeart/2005/8/layout/hList9"/>
    <dgm:cxn modelId="{F173A8EE-47DE-4F16-8DC4-37A0E7E434FA}" type="presOf" srcId="{5D6A69F2-4F62-4EE4-ACC7-B10571423A8C}" destId="{DD99DA07-ED33-4C7B-88B1-8BBB2981E8BA}" srcOrd="1" destOrd="0" presId="urn:microsoft.com/office/officeart/2005/8/layout/hList9"/>
    <dgm:cxn modelId="{3C142CF5-005D-4D55-AE52-5CE1D5C63610}" type="presOf" srcId="{7585A40A-A9CC-48A7-9848-DC34BF045CD1}" destId="{03D2D413-4AEB-45E4-82B9-59CAB9D3D4B2}" srcOrd="0" destOrd="0" presId="urn:microsoft.com/office/officeart/2005/8/layout/hList9"/>
    <dgm:cxn modelId="{DC086E20-D512-483A-BA84-A497E4C56014}" type="presParOf" srcId="{E82E4155-F947-44E4-8A9F-26EA35D7BBC2}" destId="{4E513337-813E-4C61-A697-3BE924A2BF6B}" srcOrd="0" destOrd="0" presId="urn:microsoft.com/office/officeart/2005/8/layout/hList9"/>
    <dgm:cxn modelId="{117CB676-A4A6-4676-A38F-5AD747A4714E}" type="presParOf" srcId="{E82E4155-F947-44E4-8A9F-26EA35D7BBC2}" destId="{5CF0311A-6051-4BB9-BAD5-99DB9CCB470A}" srcOrd="1" destOrd="0" presId="urn:microsoft.com/office/officeart/2005/8/layout/hList9"/>
    <dgm:cxn modelId="{A98F6D93-B666-4B52-A3DC-4FEC9754BC04}" type="presParOf" srcId="{5CF0311A-6051-4BB9-BAD5-99DB9CCB470A}" destId="{7F6AC22C-00A6-43F1-8B18-350F213A8CE6}" srcOrd="0" destOrd="0" presId="urn:microsoft.com/office/officeart/2005/8/layout/hList9"/>
    <dgm:cxn modelId="{B3CEDC10-CC89-4680-99A6-794D1FE1C4F5}" type="presParOf" srcId="{5CF0311A-6051-4BB9-BAD5-99DB9CCB470A}" destId="{11F75BF0-7E82-4ACD-8061-1C028C85CCC8}" srcOrd="1" destOrd="0" presId="urn:microsoft.com/office/officeart/2005/8/layout/hList9"/>
    <dgm:cxn modelId="{D59BC582-2618-4939-A038-5AB59436FBB7}" type="presParOf" srcId="{11F75BF0-7E82-4ACD-8061-1C028C85CCC8}" destId="{8AB4EEBC-AF34-4FB8-8CAE-AA30FE1289AA}" srcOrd="0" destOrd="0" presId="urn:microsoft.com/office/officeart/2005/8/layout/hList9"/>
    <dgm:cxn modelId="{E3D99B12-1A95-4758-8618-F1C612B36B40}" type="presParOf" srcId="{11F75BF0-7E82-4ACD-8061-1C028C85CCC8}" destId="{527BF15F-3577-4A4D-9920-300532728612}" srcOrd="1" destOrd="0" presId="urn:microsoft.com/office/officeart/2005/8/layout/hList9"/>
    <dgm:cxn modelId="{01E5671C-21B7-4EC0-B0D5-588CBD3EEC7D}" type="presParOf" srcId="{5CF0311A-6051-4BB9-BAD5-99DB9CCB470A}" destId="{2A56E3F3-4017-47F7-968E-58E93740F6F6}" srcOrd="2" destOrd="0" presId="urn:microsoft.com/office/officeart/2005/8/layout/hList9"/>
    <dgm:cxn modelId="{6C18C86D-F04F-4E4A-8B1C-EE5BDC7D5209}" type="presParOf" srcId="{2A56E3F3-4017-47F7-968E-58E93740F6F6}" destId="{AB61322E-E30F-4D77-8316-C5EAF1A6AE97}" srcOrd="0" destOrd="0" presId="urn:microsoft.com/office/officeart/2005/8/layout/hList9"/>
    <dgm:cxn modelId="{6FDB5B16-CF07-489D-BC94-768CBA669E58}" type="presParOf" srcId="{2A56E3F3-4017-47F7-968E-58E93740F6F6}" destId="{42D985F8-FF44-4C11-BAEE-15A47BA70AA3}" srcOrd="1" destOrd="0" presId="urn:microsoft.com/office/officeart/2005/8/layout/hList9"/>
    <dgm:cxn modelId="{0C201FA2-B754-41A3-94AF-52872D7E4B4C}" type="presParOf" srcId="{E82E4155-F947-44E4-8A9F-26EA35D7BBC2}" destId="{95FA5A22-15A6-4A5A-821B-D4FC6764B44A}" srcOrd="2" destOrd="0" presId="urn:microsoft.com/office/officeart/2005/8/layout/hList9"/>
    <dgm:cxn modelId="{8703F127-EF27-45E9-A038-DBEB3F0CB401}" type="presParOf" srcId="{E82E4155-F947-44E4-8A9F-26EA35D7BBC2}" destId="{03D2D413-4AEB-45E4-82B9-59CAB9D3D4B2}" srcOrd="3" destOrd="0" presId="urn:microsoft.com/office/officeart/2005/8/layout/hList9"/>
    <dgm:cxn modelId="{559769CF-3A91-4D9D-A547-F296C8AEE08E}" type="presParOf" srcId="{E82E4155-F947-44E4-8A9F-26EA35D7BBC2}" destId="{DBD74BE9-EA25-462D-B783-917178DB34AC}" srcOrd="4" destOrd="0" presId="urn:microsoft.com/office/officeart/2005/8/layout/hList9"/>
    <dgm:cxn modelId="{E5ED4B8B-3ED7-4554-B15B-1BEED94D15ED}" type="presParOf" srcId="{E82E4155-F947-44E4-8A9F-26EA35D7BBC2}" destId="{E9B8B6A1-E6E1-4777-8591-3345A616D1D4}" srcOrd="5" destOrd="0" presId="urn:microsoft.com/office/officeart/2005/8/layout/hList9"/>
    <dgm:cxn modelId="{4FDEDC15-1819-4612-A69F-672866EAF23F}" type="presParOf" srcId="{E82E4155-F947-44E4-8A9F-26EA35D7BBC2}" destId="{45F79147-E2A1-4FEB-BF55-F7E7484344DD}" srcOrd="6" destOrd="0" presId="urn:microsoft.com/office/officeart/2005/8/layout/hList9"/>
    <dgm:cxn modelId="{AB986236-5186-43BC-A26D-D6A59D29FA8E}" type="presParOf" srcId="{45F79147-E2A1-4FEB-BF55-F7E7484344DD}" destId="{3298B38E-E0BD-4DCA-A22E-3718AAC7CFC4}" srcOrd="0" destOrd="0" presId="urn:microsoft.com/office/officeart/2005/8/layout/hList9"/>
    <dgm:cxn modelId="{75106954-0CCB-4ADB-AD6F-296BEEA71C3B}" type="presParOf" srcId="{45F79147-E2A1-4FEB-BF55-F7E7484344DD}" destId="{86FE42C8-1901-4C73-BB0D-74E166773CA1}" srcOrd="1" destOrd="0" presId="urn:microsoft.com/office/officeart/2005/8/layout/hList9"/>
    <dgm:cxn modelId="{BE2A9C66-B013-40BE-A7D6-032455756CA6}" type="presParOf" srcId="{86FE42C8-1901-4C73-BB0D-74E166773CA1}" destId="{62FAA7ED-B0CE-42E8-95FF-04AD2D3DA16E}" srcOrd="0" destOrd="0" presId="urn:microsoft.com/office/officeart/2005/8/layout/hList9"/>
    <dgm:cxn modelId="{C5530A5C-7F6E-4E1A-AB66-82D692A1F486}" type="presParOf" srcId="{86FE42C8-1901-4C73-BB0D-74E166773CA1}" destId="{DD99DA07-ED33-4C7B-88B1-8BBB2981E8BA}" srcOrd="1" destOrd="0" presId="urn:microsoft.com/office/officeart/2005/8/layout/hList9"/>
    <dgm:cxn modelId="{13FDACA3-48D9-4566-9CE7-AA2014C60C37}" type="presParOf" srcId="{45F79147-E2A1-4FEB-BF55-F7E7484344DD}" destId="{8B54D255-AC2C-46BF-9123-2FDE749F4BC2}" srcOrd="2" destOrd="0" presId="urn:microsoft.com/office/officeart/2005/8/layout/hList9"/>
    <dgm:cxn modelId="{A077C069-2ADE-425F-8C03-51963FC5564A}" type="presParOf" srcId="{8B54D255-AC2C-46BF-9123-2FDE749F4BC2}" destId="{34E8414F-33E4-4DEC-B01C-550157BDFAA6}" srcOrd="0" destOrd="0" presId="urn:microsoft.com/office/officeart/2005/8/layout/hList9"/>
    <dgm:cxn modelId="{9F9626FB-BAEC-47D1-A55E-4FD829D7BDC5}" type="presParOf" srcId="{8B54D255-AC2C-46BF-9123-2FDE749F4BC2}" destId="{11431AD6-6DA4-44F0-860C-71C6BE3A6BF2}" srcOrd="1" destOrd="0" presId="urn:microsoft.com/office/officeart/2005/8/layout/hList9"/>
    <dgm:cxn modelId="{ED449EEA-66C0-4BA9-9D77-1D1B5ACCB75C}" type="presParOf" srcId="{E82E4155-F947-44E4-8A9F-26EA35D7BBC2}" destId="{47EEC79A-33C1-4239-979C-B5BA44EA9EC4}" srcOrd="7" destOrd="0" presId="urn:microsoft.com/office/officeart/2005/8/layout/hList9"/>
    <dgm:cxn modelId="{30ADA582-B1B6-4F60-991D-ED6D4DC01855}" type="presParOf" srcId="{E82E4155-F947-44E4-8A9F-26EA35D7BBC2}" destId="{879FF005-9AC8-486C-8D7A-9BD4065267CC}" srcOrd="8" destOrd="0" presId="urn:microsoft.com/office/officeart/2005/8/layout/hList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B4EEBC-AF34-4FB8-8CAE-AA30FE1289AA}">
      <dsp:nvSpPr>
        <dsp:cNvPr id="0" name=""/>
        <dsp:cNvSpPr/>
      </dsp:nvSpPr>
      <dsp:spPr>
        <a:xfrm>
          <a:off x="1912914" y="1002052"/>
          <a:ext cx="3416231" cy="227862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For small molecules, coupled-cluster CCSD(T) level can be 1 kcal/mol accurate for energies of ground and excited states. and for dipole moments.</a:t>
          </a:r>
        </a:p>
      </dsp:txBody>
      <dsp:txXfrm>
        <a:off x="2459511" y="1002052"/>
        <a:ext cx="2869634" cy="2278626"/>
      </dsp:txXfrm>
    </dsp:sp>
    <dsp:sp modelId="{AB61322E-E30F-4D77-8316-C5EAF1A6AE97}">
      <dsp:nvSpPr>
        <dsp:cNvPr id="0" name=""/>
        <dsp:cNvSpPr/>
      </dsp:nvSpPr>
      <dsp:spPr>
        <a:xfrm>
          <a:off x="1824126" y="3208404"/>
          <a:ext cx="3416231" cy="227862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Higher moments like the quadrupole octupole and higher which make contributions to Rydberg spectra, birefringence and other properties. Ab-initio programs typically report “standard” forms (coordinate density integrals) not spectroscopic traceless moments. .                          </a:t>
          </a:r>
        </a:p>
      </dsp:txBody>
      <dsp:txXfrm>
        <a:off x="2370723" y="3208404"/>
        <a:ext cx="2869634" cy="2278626"/>
      </dsp:txXfrm>
    </dsp:sp>
    <dsp:sp modelId="{03D2D413-4AEB-45E4-82B9-59CAB9D3D4B2}">
      <dsp:nvSpPr>
        <dsp:cNvPr id="0" name=""/>
        <dsp:cNvSpPr/>
      </dsp:nvSpPr>
      <dsp:spPr>
        <a:xfrm>
          <a:off x="0" y="554098"/>
          <a:ext cx="2277487" cy="227748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r>
            <a:rPr lang="en-US" sz="6500" kern="1200" dirty="0"/>
            <a:t>Calc</a:t>
          </a:r>
        </a:p>
      </dsp:txBody>
      <dsp:txXfrm>
        <a:off x="333530" y="887628"/>
        <a:ext cx="1610427" cy="1610427"/>
      </dsp:txXfrm>
    </dsp:sp>
    <dsp:sp modelId="{62FAA7ED-B0CE-42E8-95FF-04AD2D3DA16E}">
      <dsp:nvSpPr>
        <dsp:cNvPr id="0" name=""/>
        <dsp:cNvSpPr/>
      </dsp:nvSpPr>
      <dsp:spPr>
        <a:xfrm>
          <a:off x="7517846" y="920386"/>
          <a:ext cx="3416231" cy="227862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Spectroscopic analysis is a model driven process that requires a set of independent parameters adequate for the data. There should be no linear dependences among the parameters, and physical relevance. Spectroscopic analysis is a process of finding the simplest representation of data at  current and future experimental resolution.</a:t>
          </a:r>
        </a:p>
      </dsp:txBody>
      <dsp:txXfrm>
        <a:off x="8064443" y="920386"/>
        <a:ext cx="2869634" cy="2278626"/>
      </dsp:txXfrm>
    </dsp:sp>
    <dsp:sp modelId="{34E8414F-33E4-4DEC-B01C-550157BDFAA6}">
      <dsp:nvSpPr>
        <dsp:cNvPr id="0" name=""/>
        <dsp:cNvSpPr/>
      </dsp:nvSpPr>
      <dsp:spPr>
        <a:xfrm>
          <a:off x="7517846" y="3199013"/>
          <a:ext cx="3416231" cy="227862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There is a long-standing disagreement on the role of standard (traced) and traceless electronic descriptions in experiments. Experimental and theoretical work supports the need for traceless expansions (Sonia </a:t>
          </a:r>
          <a:r>
            <a:rPr lang="en-US" sz="1400" kern="1200" dirty="0" err="1"/>
            <a:t>Coriani</a:t>
          </a:r>
          <a:r>
            <a:rPr lang="en-US" sz="1400" kern="1200" dirty="0"/>
            <a:t> and others)</a:t>
          </a:r>
        </a:p>
      </dsp:txBody>
      <dsp:txXfrm>
        <a:off x="8064443" y="3199013"/>
        <a:ext cx="2869634" cy="2278626"/>
      </dsp:txXfrm>
    </dsp:sp>
    <dsp:sp modelId="{879FF005-9AC8-486C-8D7A-9BD4065267CC}">
      <dsp:nvSpPr>
        <dsp:cNvPr id="0" name=""/>
        <dsp:cNvSpPr/>
      </dsp:nvSpPr>
      <dsp:spPr>
        <a:xfrm>
          <a:off x="5688574" y="526176"/>
          <a:ext cx="2277487" cy="227748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r>
            <a:rPr lang="en-US" sz="6500" kern="1200" dirty="0"/>
            <a:t>Spec</a:t>
          </a:r>
        </a:p>
      </dsp:txBody>
      <dsp:txXfrm>
        <a:off x="6022104" y="859706"/>
        <a:ext cx="1610427" cy="1610427"/>
      </dsp:txXfrm>
    </dsp:sp>
  </dsp:spTree>
</dsp:drawing>
</file>

<file path=ppt/diagrams/layout1.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7" Type="http://schemas.openxmlformats.org/officeDocument/2006/relationships/image" Target="../media/image8.wmf"/><Relationship Id="rId2" Type="http://schemas.openxmlformats.org/officeDocument/2006/relationships/image" Target="../media/image3.wmf"/><Relationship Id="rId1" Type="http://schemas.openxmlformats.org/officeDocument/2006/relationships/image" Target="../media/image2.wmf"/><Relationship Id="rId6" Type="http://schemas.openxmlformats.org/officeDocument/2006/relationships/image" Target="../media/image7.wmf"/><Relationship Id="rId5" Type="http://schemas.openxmlformats.org/officeDocument/2006/relationships/image" Target="../media/image6.wmf"/><Relationship Id="rId4"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image" Target="../media/image2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E90025-BA83-4444-809B-30D9F277126B}" type="datetimeFigureOut">
              <a:rPr lang="en-US" smtClean="0"/>
              <a:t>6/17/2024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C0853E-C61E-492B-AF6C-96BBE8F1A21D}" type="slidenum">
              <a:rPr lang="en-US" smtClean="0"/>
              <a:t>‹#›</a:t>
            </a:fld>
            <a:endParaRPr lang="en-US"/>
          </a:p>
        </p:txBody>
      </p:sp>
    </p:spTree>
    <p:extLst>
      <p:ext uri="{BB962C8B-B14F-4D97-AF65-F5344CB8AC3E}">
        <p14:creationId xmlns:p14="http://schemas.microsoft.com/office/powerpoint/2010/main" val="2960404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B346F-C301-4F2A-BD20-0702A30174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4B21931-E52A-4977-B757-10764378A3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F6C961E-05FB-4835-9FC5-1EDC23CA73E5}"/>
              </a:ext>
            </a:extLst>
          </p:cNvPr>
          <p:cNvSpPr>
            <a:spLocks noGrp="1"/>
          </p:cNvSpPr>
          <p:nvPr>
            <p:ph type="dt" sz="half" idx="10"/>
          </p:nvPr>
        </p:nvSpPr>
        <p:spPr/>
        <p:txBody>
          <a:bodyPr/>
          <a:lstStyle/>
          <a:p>
            <a:fld id="{68601589-3E32-49F0-B8F6-F0AE8FED355B}" type="datetime1">
              <a:rPr lang="en-US" smtClean="0"/>
              <a:t>6/17/2024</a:t>
            </a:fld>
            <a:endParaRPr lang="en-US"/>
          </a:p>
        </p:txBody>
      </p:sp>
      <p:sp>
        <p:nvSpPr>
          <p:cNvPr id="5" name="Footer Placeholder 4">
            <a:extLst>
              <a:ext uri="{FF2B5EF4-FFF2-40B4-BE49-F238E27FC236}">
                <a16:creationId xmlns:a16="http://schemas.microsoft.com/office/drawing/2014/main" id="{722972BB-30EE-4572-9B19-BD56A3A78826}"/>
              </a:ext>
            </a:extLst>
          </p:cNvPr>
          <p:cNvSpPr>
            <a:spLocks noGrp="1"/>
          </p:cNvSpPr>
          <p:nvPr>
            <p:ph type="ftr" sz="quarter" idx="11"/>
          </p:nvPr>
        </p:nvSpPr>
        <p:spPr/>
        <p:txBody>
          <a:bodyPr/>
          <a:lstStyle/>
          <a:p>
            <a:r>
              <a:rPr lang="en-US"/>
              <a:t>ISMS 2024 Coy, FieldComp Chemand Effective pPotentials</a:t>
            </a:r>
          </a:p>
        </p:txBody>
      </p:sp>
      <p:sp>
        <p:nvSpPr>
          <p:cNvPr id="6" name="Slide Number Placeholder 5">
            <a:extLst>
              <a:ext uri="{FF2B5EF4-FFF2-40B4-BE49-F238E27FC236}">
                <a16:creationId xmlns:a16="http://schemas.microsoft.com/office/drawing/2014/main" id="{D101A220-0C2A-4C23-BF89-921E3FA39655}"/>
              </a:ext>
            </a:extLst>
          </p:cNvPr>
          <p:cNvSpPr>
            <a:spLocks noGrp="1"/>
          </p:cNvSpPr>
          <p:nvPr>
            <p:ph type="sldNum" sz="quarter" idx="12"/>
          </p:nvPr>
        </p:nvSpPr>
        <p:spPr/>
        <p:txBody>
          <a:bodyPr/>
          <a:lstStyle/>
          <a:p>
            <a:fld id="{4100E85D-C03B-4CB7-A13D-94C0497B8BAA}" type="slidenum">
              <a:rPr lang="en-US" smtClean="0"/>
              <a:t>‹#›</a:t>
            </a:fld>
            <a:endParaRPr lang="en-US"/>
          </a:p>
        </p:txBody>
      </p:sp>
    </p:spTree>
    <p:extLst>
      <p:ext uri="{BB962C8B-B14F-4D97-AF65-F5344CB8AC3E}">
        <p14:creationId xmlns:p14="http://schemas.microsoft.com/office/powerpoint/2010/main" val="2137354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E622A-7045-4A68-83C0-BA0DD1949B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7E142E-7514-4FC1-AF29-9F84111943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817790-713A-4CD6-AFA5-984BCBECE70F}"/>
              </a:ext>
            </a:extLst>
          </p:cNvPr>
          <p:cNvSpPr>
            <a:spLocks noGrp="1"/>
          </p:cNvSpPr>
          <p:nvPr>
            <p:ph type="dt" sz="half" idx="10"/>
          </p:nvPr>
        </p:nvSpPr>
        <p:spPr/>
        <p:txBody>
          <a:bodyPr/>
          <a:lstStyle/>
          <a:p>
            <a:fld id="{5C4CCA47-F6BB-4ACD-B930-8E36843750C4}" type="datetime1">
              <a:rPr lang="en-US" smtClean="0"/>
              <a:t>6/17/2024</a:t>
            </a:fld>
            <a:endParaRPr lang="en-US"/>
          </a:p>
        </p:txBody>
      </p:sp>
      <p:sp>
        <p:nvSpPr>
          <p:cNvPr id="5" name="Footer Placeholder 4">
            <a:extLst>
              <a:ext uri="{FF2B5EF4-FFF2-40B4-BE49-F238E27FC236}">
                <a16:creationId xmlns:a16="http://schemas.microsoft.com/office/drawing/2014/main" id="{1F49AC6D-E394-44DD-A470-8CB62BDFBE8E}"/>
              </a:ext>
            </a:extLst>
          </p:cNvPr>
          <p:cNvSpPr>
            <a:spLocks noGrp="1"/>
          </p:cNvSpPr>
          <p:nvPr>
            <p:ph type="ftr" sz="quarter" idx="11"/>
          </p:nvPr>
        </p:nvSpPr>
        <p:spPr/>
        <p:txBody>
          <a:bodyPr/>
          <a:lstStyle/>
          <a:p>
            <a:r>
              <a:rPr lang="en-US"/>
              <a:t>ISMS 2024 Coy, FieldComp Chemand Effective pPotentials</a:t>
            </a:r>
          </a:p>
        </p:txBody>
      </p:sp>
      <p:sp>
        <p:nvSpPr>
          <p:cNvPr id="6" name="Slide Number Placeholder 5">
            <a:extLst>
              <a:ext uri="{FF2B5EF4-FFF2-40B4-BE49-F238E27FC236}">
                <a16:creationId xmlns:a16="http://schemas.microsoft.com/office/drawing/2014/main" id="{38B169AC-43C5-4EFF-8853-929846C8FF4A}"/>
              </a:ext>
            </a:extLst>
          </p:cNvPr>
          <p:cNvSpPr>
            <a:spLocks noGrp="1"/>
          </p:cNvSpPr>
          <p:nvPr>
            <p:ph type="sldNum" sz="quarter" idx="12"/>
          </p:nvPr>
        </p:nvSpPr>
        <p:spPr/>
        <p:txBody>
          <a:bodyPr/>
          <a:lstStyle/>
          <a:p>
            <a:fld id="{4100E85D-C03B-4CB7-A13D-94C0497B8BAA}" type="slidenum">
              <a:rPr lang="en-US" smtClean="0"/>
              <a:t>‹#›</a:t>
            </a:fld>
            <a:endParaRPr lang="en-US"/>
          </a:p>
        </p:txBody>
      </p:sp>
    </p:spTree>
    <p:extLst>
      <p:ext uri="{BB962C8B-B14F-4D97-AF65-F5344CB8AC3E}">
        <p14:creationId xmlns:p14="http://schemas.microsoft.com/office/powerpoint/2010/main" val="2585439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78115-D35B-49A9-B7BE-C682B12F777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A47B0CF-ACFD-484C-8192-4AF90217712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DA2FD7F-5E57-4B59-8197-BC3577C600DD}"/>
              </a:ext>
            </a:extLst>
          </p:cNvPr>
          <p:cNvSpPr>
            <a:spLocks noGrp="1"/>
          </p:cNvSpPr>
          <p:nvPr>
            <p:ph type="dt" sz="half" idx="10"/>
          </p:nvPr>
        </p:nvSpPr>
        <p:spPr/>
        <p:txBody>
          <a:bodyPr/>
          <a:lstStyle/>
          <a:p>
            <a:fld id="{BA0C1534-0FDF-4EFA-BADB-00C086F86A99}" type="datetime1">
              <a:rPr lang="en-US" smtClean="0"/>
              <a:t>6/17/2024</a:t>
            </a:fld>
            <a:endParaRPr lang="en-US"/>
          </a:p>
        </p:txBody>
      </p:sp>
      <p:sp>
        <p:nvSpPr>
          <p:cNvPr id="5" name="Footer Placeholder 4">
            <a:extLst>
              <a:ext uri="{FF2B5EF4-FFF2-40B4-BE49-F238E27FC236}">
                <a16:creationId xmlns:a16="http://schemas.microsoft.com/office/drawing/2014/main" id="{7B55B299-5B70-4B13-B716-07132F6336BF}"/>
              </a:ext>
            </a:extLst>
          </p:cNvPr>
          <p:cNvSpPr>
            <a:spLocks noGrp="1"/>
          </p:cNvSpPr>
          <p:nvPr>
            <p:ph type="ftr" sz="quarter" idx="11"/>
          </p:nvPr>
        </p:nvSpPr>
        <p:spPr/>
        <p:txBody>
          <a:bodyPr/>
          <a:lstStyle/>
          <a:p>
            <a:r>
              <a:rPr lang="en-US"/>
              <a:t>ISMS 2024 Coy, FieldComp Chemand Effective pPotentials</a:t>
            </a:r>
          </a:p>
        </p:txBody>
      </p:sp>
      <p:sp>
        <p:nvSpPr>
          <p:cNvPr id="6" name="Slide Number Placeholder 5">
            <a:extLst>
              <a:ext uri="{FF2B5EF4-FFF2-40B4-BE49-F238E27FC236}">
                <a16:creationId xmlns:a16="http://schemas.microsoft.com/office/drawing/2014/main" id="{BE623A3E-B544-44A2-A2C1-951824EEB8A3}"/>
              </a:ext>
            </a:extLst>
          </p:cNvPr>
          <p:cNvSpPr>
            <a:spLocks noGrp="1"/>
          </p:cNvSpPr>
          <p:nvPr>
            <p:ph type="sldNum" sz="quarter" idx="12"/>
          </p:nvPr>
        </p:nvSpPr>
        <p:spPr/>
        <p:txBody>
          <a:bodyPr/>
          <a:lstStyle/>
          <a:p>
            <a:fld id="{4100E85D-C03B-4CB7-A13D-94C0497B8BAA}" type="slidenum">
              <a:rPr lang="en-US" smtClean="0"/>
              <a:t>‹#›</a:t>
            </a:fld>
            <a:endParaRPr lang="en-US"/>
          </a:p>
        </p:txBody>
      </p:sp>
    </p:spTree>
    <p:extLst>
      <p:ext uri="{BB962C8B-B14F-4D97-AF65-F5344CB8AC3E}">
        <p14:creationId xmlns:p14="http://schemas.microsoft.com/office/powerpoint/2010/main" val="2006145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E9266-55E4-48C4-B93F-2EBF1A881D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AAD707-82D8-4A94-9746-D159149385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4000884-00AD-4BC3-B84D-8DFD3AFD03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FBA1A14-5E84-4975-942A-153DECC24FCF}"/>
              </a:ext>
            </a:extLst>
          </p:cNvPr>
          <p:cNvSpPr>
            <a:spLocks noGrp="1"/>
          </p:cNvSpPr>
          <p:nvPr>
            <p:ph type="dt" sz="half" idx="10"/>
          </p:nvPr>
        </p:nvSpPr>
        <p:spPr/>
        <p:txBody>
          <a:bodyPr/>
          <a:lstStyle/>
          <a:p>
            <a:fld id="{7158BFD2-6D60-4FAD-827F-E5F63B19A08F}" type="datetime1">
              <a:rPr lang="en-US" smtClean="0"/>
              <a:t>6/17/2024</a:t>
            </a:fld>
            <a:endParaRPr lang="en-US"/>
          </a:p>
        </p:txBody>
      </p:sp>
      <p:sp>
        <p:nvSpPr>
          <p:cNvPr id="6" name="Footer Placeholder 5">
            <a:extLst>
              <a:ext uri="{FF2B5EF4-FFF2-40B4-BE49-F238E27FC236}">
                <a16:creationId xmlns:a16="http://schemas.microsoft.com/office/drawing/2014/main" id="{416AC763-01C2-43C0-834C-183192223DDB}"/>
              </a:ext>
            </a:extLst>
          </p:cNvPr>
          <p:cNvSpPr>
            <a:spLocks noGrp="1"/>
          </p:cNvSpPr>
          <p:nvPr>
            <p:ph type="ftr" sz="quarter" idx="11"/>
          </p:nvPr>
        </p:nvSpPr>
        <p:spPr/>
        <p:txBody>
          <a:bodyPr/>
          <a:lstStyle/>
          <a:p>
            <a:r>
              <a:rPr lang="en-US"/>
              <a:t>ISMS 2024 Coy, FieldComp Chemand Effective pPotentials</a:t>
            </a:r>
          </a:p>
        </p:txBody>
      </p:sp>
      <p:sp>
        <p:nvSpPr>
          <p:cNvPr id="7" name="Slide Number Placeholder 6">
            <a:extLst>
              <a:ext uri="{FF2B5EF4-FFF2-40B4-BE49-F238E27FC236}">
                <a16:creationId xmlns:a16="http://schemas.microsoft.com/office/drawing/2014/main" id="{DD2BD288-4062-4DE8-935B-D9D7FBED67D1}"/>
              </a:ext>
            </a:extLst>
          </p:cNvPr>
          <p:cNvSpPr>
            <a:spLocks noGrp="1"/>
          </p:cNvSpPr>
          <p:nvPr>
            <p:ph type="sldNum" sz="quarter" idx="12"/>
          </p:nvPr>
        </p:nvSpPr>
        <p:spPr/>
        <p:txBody>
          <a:bodyPr/>
          <a:lstStyle/>
          <a:p>
            <a:fld id="{4100E85D-C03B-4CB7-A13D-94C0497B8BAA}" type="slidenum">
              <a:rPr lang="en-US" smtClean="0"/>
              <a:t>‹#›</a:t>
            </a:fld>
            <a:endParaRPr lang="en-US"/>
          </a:p>
        </p:txBody>
      </p:sp>
    </p:spTree>
    <p:extLst>
      <p:ext uri="{BB962C8B-B14F-4D97-AF65-F5344CB8AC3E}">
        <p14:creationId xmlns:p14="http://schemas.microsoft.com/office/powerpoint/2010/main" val="331273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80BDA-E766-4784-83D3-4DD21721ED1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9A3BD1C-4AF8-421B-9D10-38D54E97CA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7CEDDC-527C-4C14-9BA3-8FEFC8C07C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1230F74-00A4-424B-A823-A47E779466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B21C2E-601A-426D-A506-87B33DC8B57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40892F8-CDBA-4679-8846-7F567F43E4A5}"/>
              </a:ext>
            </a:extLst>
          </p:cNvPr>
          <p:cNvSpPr>
            <a:spLocks noGrp="1"/>
          </p:cNvSpPr>
          <p:nvPr>
            <p:ph type="dt" sz="half" idx="10"/>
          </p:nvPr>
        </p:nvSpPr>
        <p:spPr/>
        <p:txBody>
          <a:bodyPr/>
          <a:lstStyle/>
          <a:p>
            <a:fld id="{7873A5FB-3C17-48CC-A5D2-1CC3B639D138}" type="datetime1">
              <a:rPr lang="en-US" smtClean="0"/>
              <a:t>6/17/2024</a:t>
            </a:fld>
            <a:endParaRPr lang="en-US"/>
          </a:p>
        </p:txBody>
      </p:sp>
      <p:sp>
        <p:nvSpPr>
          <p:cNvPr id="8" name="Footer Placeholder 7">
            <a:extLst>
              <a:ext uri="{FF2B5EF4-FFF2-40B4-BE49-F238E27FC236}">
                <a16:creationId xmlns:a16="http://schemas.microsoft.com/office/drawing/2014/main" id="{3C37003D-5841-496C-8B95-DD1FA90EA7B0}"/>
              </a:ext>
            </a:extLst>
          </p:cNvPr>
          <p:cNvSpPr>
            <a:spLocks noGrp="1"/>
          </p:cNvSpPr>
          <p:nvPr>
            <p:ph type="ftr" sz="quarter" idx="11"/>
          </p:nvPr>
        </p:nvSpPr>
        <p:spPr/>
        <p:txBody>
          <a:bodyPr/>
          <a:lstStyle/>
          <a:p>
            <a:r>
              <a:rPr lang="en-US"/>
              <a:t>ISMS 2024 Coy, FieldComp Chemand Effective pPotentials</a:t>
            </a:r>
          </a:p>
        </p:txBody>
      </p:sp>
      <p:sp>
        <p:nvSpPr>
          <p:cNvPr id="9" name="Slide Number Placeholder 8">
            <a:extLst>
              <a:ext uri="{FF2B5EF4-FFF2-40B4-BE49-F238E27FC236}">
                <a16:creationId xmlns:a16="http://schemas.microsoft.com/office/drawing/2014/main" id="{CF326873-D971-4851-B0E6-1B4B731FEA6A}"/>
              </a:ext>
            </a:extLst>
          </p:cNvPr>
          <p:cNvSpPr>
            <a:spLocks noGrp="1"/>
          </p:cNvSpPr>
          <p:nvPr>
            <p:ph type="sldNum" sz="quarter" idx="12"/>
          </p:nvPr>
        </p:nvSpPr>
        <p:spPr/>
        <p:txBody>
          <a:bodyPr/>
          <a:lstStyle/>
          <a:p>
            <a:fld id="{4100E85D-C03B-4CB7-A13D-94C0497B8BAA}" type="slidenum">
              <a:rPr lang="en-US" smtClean="0"/>
              <a:t>‹#›</a:t>
            </a:fld>
            <a:endParaRPr lang="en-US"/>
          </a:p>
        </p:txBody>
      </p:sp>
    </p:spTree>
    <p:extLst>
      <p:ext uri="{BB962C8B-B14F-4D97-AF65-F5344CB8AC3E}">
        <p14:creationId xmlns:p14="http://schemas.microsoft.com/office/powerpoint/2010/main" val="3616199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96056-0E58-4805-8F3A-2B8002058D8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82DFAA-B9D8-49AB-8395-2708CF20A5E6}"/>
              </a:ext>
            </a:extLst>
          </p:cNvPr>
          <p:cNvSpPr>
            <a:spLocks noGrp="1"/>
          </p:cNvSpPr>
          <p:nvPr>
            <p:ph type="dt" sz="half" idx="10"/>
          </p:nvPr>
        </p:nvSpPr>
        <p:spPr/>
        <p:txBody>
          <a:bodyPr/>
          <a:lstStyle/>
          <a:p>
            <a:fld id="{59557199-CBCC-47F3-AE9E-AF091FA6E013}" type="datetime1">
              <a:rPr lang="en-US" smtClean="0"/>
              <a:t>6/17/2024</a:t>
            </a:fld>
            <a:endParaRPr lang="en-US"/>
          </a:p>
        </p:txBody>
      </p:sp>
      <p:sp>
        <p:nvSpPr>
          <p:cNvPr id="4" name="Footer Placeholder 3">
            <a:extLst>
              <a:ext uri="{FF2B5EF4-FFF2-40B4-BE49-F238E27FC236}">
                <a16:creationId xmlns:a16="http://schemas.microsoft.com/office/drawing/2014/main" id="{E38C1D46-4C7A-4944-96B3-9EAEBEAB4DEE}"/>
              </a:ext>
            </a:extLst>
          </p:cNvPr>
          <p:cNvSpPr>
            <a:spLocks noGrp="1"/>
          </p:cNvSpPr>
          <p:nvPr>
            <p:ph type="ftr" sz="quarter" idx="11"/>
          </p:nvPr>
        </p:nvSpPr>
        <p:spPr/>
        <p:txBody>
          <a:bodyPr/>
          <a:lstStyle/>
          <a:p>
            <a:r>
              <a:rPr lang="en-US"/>
              <a:t>ISMS 2024 Coy, FieldComp Chemand Effective pPotentials</a:t>
            </a:r>
          </a:p>
        </p:txBody>
      </p:sp>
      <p:sp>
        <p:nvSpPr>
          <p:cNvPr id="5" name="Slide Number Placeholder 4">
            <a:extLst>
              <a:ext uri="{FF2B5EF4-FFF2-40B4-BE49-F238E27FC236}">
                <a16:creationId xmlns:a16="http://schemas.microsoft.com/office/drawing/2014/main" id="{AE180D48-28E7-4F69-9844-57AA440BFF45}"/>
              </a:ext>
            </a:extLst>
          </p:cNvPr>
          <p:cNvSpPr>
            <a:spLocks noGrp="1"/>
          </p:cNvSpPr>
          <p:nvPr>
            <p:ph type="sldNum" sz="quarter" idx="12"/>
          </p:nvPr>
        </p:nvSpPr>
        <p:spPr/>
        <p:txBody>
          <a:bodyPr/>
          <a:lstStyle/>
          <a:p>
            <a:fld id="{4100E85D-C03B-4CB7-A13D-94C0497B8BAA}" type="slidenum">
              <a:rPr lang="en-US" smtClean="0"/>
              <a:t>‹#›</a:t>
            </a:fld>
            <a:endParaRPr lang="en-US"/>
          </a:p>
        </p:txBody>
      </p:sp>
    </p:spTree>
    <p:extLst>
      <p:ext uri="{BB962C8B-B14F-4D97-AF65-F5344CB8AC3E}">
        <p14:creationId xmlns:p14="http://schemas.microsoft.com/office/powerpoint/2010/main" val="1769218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352672-F94C-4F41-B2C7-E2CA669A932C}"/>
              </a:ext>
            </a:extLst>
          </p:cNvPr>
          <p:cNvSpPr>
            <a:spLocks noGrp="1"/>
          </p:cNvSpPr>
          <p:nvPr>
            <p:ph type="dt" sz="half" idx="10"/>
          </p:nvPr>
        </p:nvSpPr>
        <p:spPr/>
        <p:txBody>
          <a:bodyPr/>
          <a:lstStyle/>
          <a:p>
            <a:fld id="{6080E96D-0441-4E25-A0B0-B4680EDB804F}" type="datetime1">
              <a:rPr lang="en-US" smtClean="0"/>
              <a:t>6/17/2024</a:t>
            </a:fld>
            <a:endParaRPr lang="en-US"/>
          </a:p>
        </p:txBody>
      </p:sp>
      <p:sp>
        <p:nvSpPr>
          <p:cNvPr id="3" name="Footer Placeholder 2">
            <a:extLst>
              <a:ext uri="{FF2B5EF4-FFF2-40B4-BE49-F238E27FC236}">
                <a16:creationId xmlns:a16="http://schemas.microsoft.com/office/drawing/2014/main" id="{D96DD52C-7BFF-490C-8049-C5405F200CBC}"/>
              </a:ext>
            </a:extLst>
          </p:cNvPr>
          <p:cNvSpPr>
            <a:spLocks noGrp="1"/>
          </p:cNvSpPr>
          <p:nvPr>
            <p:ph type="ftr" sz="quarter" idx="11"/>
          </p:nvPr>
        </p:nvSpPr>
        <p:spPr/>
        <p:txBody>
          <a:bodyPr/>
          <a:lstStyle/>
          <a:p>
            <a:r>
              <a:rPr lang="en-US"/>
              <a:t>ISMS 2024 Coy, FieldComp Chemand Effective pPotentials</a:t>
            </a:r>
          </a:p>
        </p:txBody>
      </p:sp>
      <p:sp>
        <p:nvSpPr>
          <p:cNvPr id="4" name="Slide Number Placeholder 3">
            <a:extLst>
              <a:ext uri="{FF2B5EF4-FFF2-40B4-BE49-F238E27FC236}">
                <a16:creationId xmlns:a16="http://schemas.microsoft.com/office/drawing/2014/main" id="{CD4BB664-D3C1-4A96-8603-F37D2D0BB090}"/>
              </a:ext>
            </a:extLst>
          </p:cNvPr>
          <p:cNvSpPr>
            <a:spLocks noGrp="1"/>
          </p:cNvSpPr>
          <p:nvPr>
            <p:ph type="sldNum" sz="quarter" idx="12"/>
          </p:nvPr>
        </p:nvSpPr>
        <p:spPr/>
        <p:txBody>
          <a:bodyPr/>
          <a:lstStyle/>
          <a:p>
            <a:fld id="{4100E85D-C03B-4CB7-A13D-94C0497B8BAA}" type="slidenum">
              <a:rPr lang="en-US" smtClean="0"/>
              <a:t>‹#›</a:t>
            </a:fld>
            <a:endParaRPr lang="en-US"/>
          </a:p>
        </p:txBody>
      </p:sp>
    </p:spTree>
    <p:extLst>
      <p:ext uri="{BB962C8B-B14F-4D97-AF65-F5344CB8AC3E}">
        <p14:creationId xmlns:p14="http://schemas.microsoft.com/office/powerpoint/2010/main" val="32253605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F135E-87AC-419D-86F3-42ADEEE78D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D6770E-724D-4368-8C8B-D80D4F4437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2E69B3-AB8F-41FC-95F7-7762435717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34D325-44FF-4EAF-9506-699A5E872446}"/>
              </a:ext>
            </a:extLst>
          </p:cNvPr>
          <p:cNvSpPr>
            <a:spLocks noGrp="1"/>
          </p:cNvSpPr>
          <p:nvPr>
            <p:ph type="dt" sz="half" idx="10"/>
          </p:nvPr>
        </p:nvSpPr>
        <p:spPr/>
        <p:txBody>
          <a:bodyPr/>
          <a:lstStyle/>
          <a:p>
            <a:fld id="{7840CBFF-EA01-43A9-8CAF-833E8FD6072D}" type="datetime1">
              <a:rPr lang="en-US" smtClean="0"/>
              <a:t>6/17/2024</a:t>
            </a:fld>
            <a:endParaRPr lang="en-US"/>
          </a:p>
        </p:txBody>
      </p:sp>
      <p:sp>
        <p:nvSpPr>
          <p:cNvPr id="6" name="Footer Placeholder 5">
            <a:extLst>
              <a:ext uri="{FF2B5EF4-FFF2-40B4-BE49-F238E27FC236}">
                <a16:creationId xmlns:a16="http://schemas.microsoft.com/office/drawing/2014/main" id="{A29CB3B7-AC16-4930-905E-E13C464E4F69}"/>
              </a:ext>
            </a:extLst>
          </p:cNvPr>
          <p:cNvSpPr>
            <a:spLocks noGrp="1"/>
          </p:cNvSpPr>
          <p:nvPr>
            <p:ph type="ftr" sz="quarter" idx="11"/>
          </p:nvPr>
        </p:nvSpPr>
        <p:spPr/>
        <p:txBody>
          <a:bodyPr/>
          <a:lstStyle/>
          <a:p>
            <a:r>
              <a:rPr lang="en-US"/>
              <a:t>ISMS 2024 Coy, FieldComp Chemand Effective pPotentials</a:t>
            </a:r>
          </a:p>
        </p:txBody>
      </p:sp>
      <p:sp>
        <p:nvSpPr>
          <p:cNvPr id="7" name="Slide Number Placeholder 6">
            <a:extLst>
              <a:ext uri="{FF2B5EF4-FFF2-40B4-BE49-F238E27FC236}">
                <a16:creationId xmlns:a16="http://schemas.microsoft.com/office/drawing/2014/main" id="{FABC1400-2C29-4DD6-B711-0DDD436E116F}"/>
              </a:ext>
            </a:extLst>
          </p:cNvPr>
          <p:cNvSpPr>
            <a:spLocks noGrp="1"/>
          </p:cNvSpPr>
          <p:nvPr>
            <p:ph type="sldNum" sz="quarter" idx="12"/>
          </p:nvPr>
        </p:nvSpPr>
        <p:spPr/>
        <p:txBody>
          <a:bodyPr/>
          <a:lstStyle/>
          <a:p>
            <a:fld id="{4100E85D-C03B-4CB7-A13D-94C0497B8BAA}" type="slidenum">
              <a:rPr lang="en-US" smtClean="0"/>
              <a:t>‹#›</a:t>
            </a:fld>
            <a:endParaRPr lang="en-US"/>
          </a:p>
        </p:txBody>
      </p:sp>
    </p:spTree>
    <p:extLst>
      <p:ext uri="{BB962C8B-B14F-4D97-AF65-F5344CB8AC3E}">
        <p14:creationId xmlns:p14="http://schemas.microsoft.com/office/powerpoint/2010/main" val="3162145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B9059-14B7-4E4B-A13E-CDD46D39F9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2969A5B-D48B-47CC-9400-0507C3F5D7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7614CBC-3753-4B9D-B382-437FD379F5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3702BF-5964-4C34-8BB7-B84AF08CB456}"/>
              </a:ext>
            </a:extLst>
          </p:cNvPr>
          <p:cNvSpPr>
            <a:spLocks noGrp="1"/>
          </p:cNvSpPr>
          <p:nvPr>
            <p:ph type="dt" sz="half" idx="10"/>
          </p:nvPr>
        </p:nvSpPr>
        <p:spPr/>
        <p:txBody>
          <a:bodyPr/>
          <a:lstStyle/>
          <a:p>
            <a:fld id="{0F6FA3B3-8503-48E7-BAAF-B25DD6EDFE11}" type="datetime1">
              <a:rPr lang="en-US" smtClean="0"/>
              <a:t>6/17/2024</a:t>
            </a:fld>
            <a:endParaRPr lang="en-US"/>
          </a:p>
        </p:txBody>
      </p:sp>
      <p:sp>
        <p:nvSpPr>
          <p:cNvPr id="6" name="Footer Placeholder 5">
            <a:extLst>
              <a:ext uri="{FF2B5EF4-FFF2-40B4-BE49-F238E27FC236}">
                <a16:creationId xmlns:a16="http://schemas.microsoft.com/office/drawing/2014/main" id="{47A52855-9A62-4596-809C-530B3FAB7942}"/>
              </a:ext>
            </a:extLst>
          </p:cNvPr>
          <p:cNvSpPr>
            <a:spLocks noGrp="1"/>
          </p:cNvSpPr>
          <p:nvPr>
            <p:ph type="ftr" sz="quarter" idx="11"/>
          </p:nvPr>
        </p:nvSpPr>
        <p:spPr/>
        <p:txBody>
          <a:bodyPr/>
          <a:lstStyle/>
          <a:p>
            <a:r>
              <a:rPr lang="en-US"/>
              <a:t>ISMS 2024 Coy, FieldComp Chemand Effective pPotentials</a:t>
            </a:r>
          </a:p>
        </p:txBody>
      </p:sp>
      <p:sp>
        <p:nvSpPr>
          <p:cNvPr id="7" name="Slide Number Placeholder 6">
            <a:extLst>
              <a:ext uri="{FF2B5EF4-FFF2-40B4-BE49-F238E27FC236}">
                <a16:creationId xmlns:a16="http://schemas.microsoft.com/office/drawing/2014/main" id="{DCDDF2E5-5933-4933-A92E-52C1C3952421}"/>
              </a:ext>
            </a:extLst>
          </p:cNvPr>
          <p:cNvSpPr>
            <a:spLocks noGrp="1"/>
          </p:cNvSpPr>
          <p:nvPr>
            <p:ph type="sldNum" sz="quarter" idx="12"/>
          </p:nvPr>
        </p:nvSpPr>
        <p:spPr/>
        <p:txBody>
          <a:bodyPr/>
          <a:lstStyle/>
          <a:p>
            <a:fld id="{4100E85D-C03B-4CB7-A13D-94C0497B8BAA}" type="slidenum">
              <a:rPr lang="en-US" smtClean="0"/>
              <a:t>‹#›</a:t>
            </a:fld>
            <a:endParaRPr lang="en-US"/>
          </a:p>
        </p:txBody>
      </p:sp>
    </p:spTree>
    <p:extLst>
      <p:ext uri="{BB962C8B-B14F-4D97-AF65-F5344CB8AC3E}">
        <p14:creationId xmlns:p14="http://schemas.microsoft.com/office/powerpoint/2010/main" val="1686370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D592B-CDA8-4DD6-95A2-85D27C50AE4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AC8BC1-906A-469E-86F4-DA6D0FE9BC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AC987A-30FF-4B88-85AE-E90C80F993BC}"/>
              </a:ext>
            </a:extLst>
          </p:cNvPr>
          <p:cNvSpPr>
            <a:spLocks noGrp="1"/>
          </p:cNvSpPr>
          <p:nvPr>
            <p:ph type="dt" sz="half" idx="10"/>
          </p:nvPr>
        </p:nvSpPr>
        <p:spPr/>
        <p:txBody>
          <a:bodyPr/>
          <a:lstStyle/>
          <a:p>
            <a:fld id="{43A46314-3B19-4CDF-9BC8-C1B60A558B66}" type="datetime1">
              <a:rPr lang="en-US" smtClean="0"/>
              <a:t>6/17/2024</a:t>
            </a:fld>
            <a:endParaRPr lang="en-US"/>
          </a:p>
        </p:txBody>
      </p:sp>
      <p:sp>
        <p:nvSpPr>
          <p:cNvPr id="5" name="Footer Placeholder 4">
            <a:extLst>
              <a:ext uri="{FF2B5EF4-FFF2-40B4-BE49-F238E27FC236}">
                <a16:creationId xmlns:a16="http://schemas.microsoft.com/office/drawing/2014/main" id="{807F590D-3596-489C-9CDB-4528821E230F}"/>
              </a:ext>
            </a:extLst>
          </p:cNvPr>
          <p:cNvSpPr>
            <a:spLocks noGrp="1"/>
          </p:cNvSpPr>
          <p:nvPr>
            <p:ph type="ftr" sz="quarter" idx="11"/>
          </p:nvPr>
        </p:nvSpPr>
        <p:spPr/>
        <p:txBody>
          <a:bodyPr/>
          <a:lstStyle/>
          <a:p>
            <a:r>
              <a:rPr lang="en-US"/>
              <a:t>ISMS 2024 Coy, FieldComp Chemand Effective pPotentials</a:t>
            </a:r>
          </a:p>
        </p:txBody>
      </p:sp>
      <p:sp>
        <p:nvSpPr>
          <p:cNvPr id="6" name="Slide Number Placeholder 5">
            <a:extLst>
              <a:ext uri="{FF2B5EF4-FFF2-40B4-BE49-F238E27FC236}">
                <a16:creationId xmlns:a16="http://schemas.microsoft.com/office/drawing/2014/main" id="{1D47F224-E9ED-4351-AEC8-2182B57A0240}"/>
              </a:ext>
            </a:extLst>
          </p:cNvPr>
          <p:cNvSpPr>
            <a:spLocks noGrp="1"/>
          </p:cNvSpPr>
          <p:nvPr>
            <p:ph type="sldNum" sz="quarter" idx="12"/>
          </p:nvPr>
        </p:nvSpPr>
        <p:spPr/>
        <p:txBody>
          <a:bodyPr/>
          <a:lstStyle/>
          <a:p>
            <a:fld id="{4100E85D-C03B-4CB7-A13D-94C0497B8BAA}" type="slidenum">
              <a:rPr lang="en-US" smtClean="0"/>
              <a:t>‹#›</a:t>
            </a:fld>
            <a:endParaRPr lang="en-US"/>
          </a:p>
        </p:txBody>
      </p:sp>
    </p:spTree>
    <p:extLst>
      <p:ext uri="{BB962C8B-B14F-4D97-AF65-F5344CB8AC3E}">
        <p14:creationId xmlns:p14="http://schemas.microsoft.com/office/powerpoint/2010/main" val="1746952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B0F0EC-7126-40B6-B9C9-4FDED7A41EB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B2E1C5-1B78-42B3-8392-9D92AAECB9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0DF6AD-C140-4E8D-8FD3-C558C823A042}"/>
              </a:ext>
            </a:extLst>
          </p:cNvPr>
          <p:cNvSpPr>
            <a:spLocks noGrp="1"/>
          </p:cNvSpPr>
          <p:nvPr>
            <p:ph type="dt" sz="half" idx="10"/>
          </p:nvPr>
        </p:nvSpPr>
        <p:spPr/>
        <p:txBody>
          <a:bodyPr/>
          <a:lstStyle/>
          <a:p>
            <a:fld id="{5911349E-237A-4513-A88E-DC9013E6EE57}" type="datetime1">
              <a:rPr lang="en-US" smtClean="0"/>
              <a:t>6/17/2024</a:t>
            </a:fld>
            <a:endParaRPr lang="en-US"/>
          </a:p>
        </p:txBody>
      </p:sp>
      <p:sp>
        <p:nvSpPr>
          <p:cNvPr id="5" name="Footer Placeholder 4">
            <a:extLst>
              <a:ext uri="{FF2B5EF4-FFF2-40B4-BE49-F238E27FC236}">
                <a16:creationId xmlns:a16="http://schemas.microsoft.com/office/drawing/2014/main" id="{3217CC70-FFD0-4D91-95CB-E23A2096BABF}"/>
              </a:ext>
            </a:extLst>
          </p:cNvPr>
          <p:cNvSpPr>
            <a:spLocks noGrp="1"/>
          </p:cNvSpPr>
          <p:nvPr>
            <p:ph type="ftr" sz="quarter" idx="11"/>
          </p:nvPr>
        </p:nvSpPr>
        <p:spPr/>
        <p:txBody>
          <a:bodyPr/>
          <a:lstStyle/>
          <a:p>
            <a:r>
              <a:rPr lang="en-US"/>
              <a:t>ISMS 2024 Coy, FieldComp Chemand Effective pPotentials</a:t>
            </a:r>
          </a:p>
        </p:txBody>
      </p:sp>
      <p:sp>
        <p:nvSpPr>
          <p:cNvPr id="6" name="Slide Number Placeholder 5">
            <a:extLst>
              <a:ext uri="{FF2B5EF4-FFF2-40B4-BE49-F238E27FC236}">
                <a16:creationId xmlns:a16="http://schemas.microsoft.com/office/drawing/2014/main" id="{C107722E-B703-4C88-8DE5-5A4889EB6CA8}"/>
              </a:ext>
            </a:extLst>
          </p:cNvPr>
          <p:cNvSpPr>
            <a:spLocks noGrp="1"/>
          </p:cNvSpPr>
          <p:nvPr>
            <p:ph type="sldNum" sz="quarter" idx="12"/>
          </p:nvPr>
        </p:nvSpPr>
        <p:spPr/>
        <p:txBody>
          <a:bodyPr/>
          <a:lstStyle/>
          <a:p>
            <a:fld id="{4100E85D-C03B-4CB7-A13D-94C0497B8BAA}" type="slidenum">
              <a:rPr lang="en-US" smtClean="0"/>
              <a:t>‹#›</a:t>
            </a:fld>
            <a:endParaRPr lang="en-US"/>
          </a:p>
        </p:txBody>
      </p:sp>
    </p:spTree>
    <p:extLst>
      <p:ext uri="{BB962C8B-B14F-4D97-AF65-F5344CB8AC3E}">
        <p14:creationId xmlns:p14="http://schemas.microsoft.com/office/powerpoint/2010/main" val="406698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3CDD68-A3FF-4716-A0AB-36F3121A51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E7E23BE-7E2C-406F-86E1-C2DDD8D484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1EEABC-ED87-474E-834D-E335693FFA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65AAAA-62F8-4E31-8D0F-EC4C5BD18962}" type="datetime1">
              <a:rPr lang="en-US" smtClean="0"/>
              <a:t>6/17/2024</a:t>
            </a:fld>
            <a:endParaRPr lang="en-US"/>
          </a:p>
        </p:txBody>
      </p:sp>
      <p:sp>
        <p:nvSpPr>
          <p:cNvPr id="5" name="Footer Placeholder 4">
            <a:extLst>
              <a:ext uri="{FF2B5EF4-FFF2-40B4-BE49-F238E27FC236}">
                <a16:creationId xmlns:a16="http://schemas.microsoft.com/office/drawing/2014/main" id="{BF0846D2-4B2E-45F1-A6B5-09FD5AEF2B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ISMS 2024 Coy, FieldComp Chemand Effective pPotentials</a:t>
            </a:r>
          </a:p>
        </p:txBody>
      </p:sp>
      <p:sp>
        <p:nvSpPr>
          <p:cNvPr id="6" name="Slide Number Placeholder 5">
            <a:extLst>
              <a:ext uri="{FF2B5EF4-FFF2-40B4-BE49-F238E27FC236}">
                <a16:creationId xmlns:a16="http://schemas.microsoft.com/office/drawing/2014/main" id="{E8A77EC8-D124-4B0B-86AC-B58FCAF1E4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00E85D-C03B-4CB7-A13D-94C0497B8BAA}" type="slidenum">
              <a:rPr lang="en-US" smtClean="0"/>
              <a:t>‹#›</a:t>
            </a:fld>
            <a:endParaRPr lang="en-US"/>
          </a:p>
        </p:txBody>
      </p:sp>
    </p:spTree>
    <p:extLst>
      <p:ext uri="{BB962C8B-B14F-4D97-AF65-F5344CB8AC3E}">
        <p14:creationId xmlns:p14="http://schemas.microsoft.com/office/powerpoint/2010/main" val="10304064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4.wmf"/><Relationship Id="rId13" Type="http://schemas.openxmlformats.org/officeDocument/2006/relationships/oleObject" Target="../embeddings/oleObject6.bin"/><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6.wmf"/><Relationship Id="rId2" Type="http://schemas.openxmlformats.org/officeDocument/2006/relationships/slideLayout" Target="../slideLayouts/slideLayout7.xml"/><Relationship Id="rId16" Type="http://schemas.openxmlformats.org/officeDocument/2006/relationships/image" Target="../media/image8.wmf"/><Relationship Id="rId1" Type="http://schemas.openxmlformats.org/officeDocument/2006/relationships/vmlDrawing" Target="../drawings/vmlDrawing1.vml"/><Relationship Id="rId6" Type="http://schemas.openxmlformats.org/officeDocument/2006/relationships/image" Target="../media/image3.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5.wmf"/><Relationship Id="rId4" Type="http://schemas.openxmlformats.org/officeDocument/2006/relationships/image" Target="../media/image2.wmf"/><Relationship Id="rId9" Type="http://schemas.openxmlformats.org/officeDocument/2006/relationships/oleObject" Target="../embeddings/oleObject4.bin"/><Relationship Id="rId14" Type="http://schemas.openxmlformats.org/officeDocument/2006/relationships/image" Target="../media/image7.wmf"/></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tif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7.xml"/><Relationship Id="rId4" Type="http://schemas.openxmlformats.org/officeDocument/2006/relationships/image" Target="../media/image14.emf"/></Relationships>
</file>

<file path=ppt/slides/_rels/slide10.xml.rels><?xml version="1.0" encoding="UTF-8" standalone="yes"?>
<Relationships xmlns="http://schemas.openxmlformats.org/package/2006/relationships"><Relationship Id="rId3" Type="http://schemas.openxmlformats.org/officeDocument/2006/relationships/image" Target="../media/image16.emf"/><Relationship Id="rId7" Type="http://schemas.openxmlformats.org/officeDocument/2006/relationships/image" Target="../media/image19.emf"/><Relationship Id="rId2" Type="http://schemas.openxmlformats.org/officeDocument/2006/relationships/image" Target="../media/image15.emf"/><Relationship Id="rId1" Type="http://schemas.openxmlformats.org/officeDocument/2006/relationships/slideLayout" Target="../slideLayouts/slideLayout7.xml"/><Relationship Id="rId6" Type="http://schemas.openxmlformats.org/officeDocument/2006/relationships/image" Target="../media/image13.emf"/><Relationship Id="rId5" Type="http://schemas.openxmlformats.org/officeDocument/2006/relationships/image" Target="../media/image18.emf"/><Relationship Id="rId4" Type="http://schemas.openxmlformats.org/officeDocument/2006/relationships/image" Target="../media/image17.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20.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22.emf"/><Relationship Id="rId5" Type="http://schemas.openxmlformats.org/officeDocument/2006/relationships/oleObject" Target="../embeddings/oleObject10.bin"/><Relationship Id="rId4" Type="http://schemas.openxmlformats.org/officeDocument/2006/relationships/image" Target="../media/image21.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BFA8431-86ED-4D1B-93BF-41F34B587DB1}"/>
              </a:ext>
            </a:extLst>
          </p:cNvPr>
          <p:cNvSpPr txBox="1"/>
          <p:nvPr/>
        </p:nvSpPr>
        <p:spPr>
          <a:xfrm>
            <a:off x="2624920" y="143729"/>
            <a:ext cx="6942160" cy="1200329"/>
          </a:xfrm>
          <a:prstGeom prst="rect">
            <a:avLst/>
          </a:prstGeom>
          <a:noFill/>
        </p:spPr>
        <p:txBody>
          <a:bodyPr wrap="square" rtlCol="0">
            <a:spAutoFit/>
          </a:bodyPr>
          <a:lstStyle/>
          <a:p>
            <a:pPr algn="ctr"/>
            <a:r>
              <a:rPr lang="en-US" sz="2400" b="1" i="0" u="none" strike="noStrike" baseline="0" dirty="0">
                <a:latin typeface="Arial" panose="020B0604020202020204" pitchFamily="34" charset="0"/>
                <a:cs typeface="Arial" panose="020B0604020202020204" pitchFamily="34" charset="0"/>
              </a:rPr>
              <a:t>Primitive to Traceless:  </a:t>
            </a:r>
          </a:p>
          <a:p>
            <a:pPr algn="ctr"/>
            <a:r>
              <a:rPr lang="en-US" sz="2400" b="1" i="0" u="none" strike="noStrike" baseline="0" dirty="0">
                <a:latin typeface="Arial" panose="020B0604020202020204" pitchFamily="34" charset="0"/>
                <a:cs typeface="Arial" panose="020B0604020202020204" pitchFamily="34" charset="0"/>
              </a:rPr>
              <a:t>Computational Chemistry to </a:t>
            </a:r>
          </a:p>
          <a:p>
            <a:pPr algn="ctr"/>
            <a:r>
              <a:rPr lang="en-US" sz="2400" b="1" i="0" u="none" strike="noStrike" baseline="0" dirty="0">
                <a:latin typeface="Arial" panose="020B0604020202020204" pitchFamily="34" charset="0"/>
                <a:cs typeface="Arial" panose="020B0604020202020204" pitchFamily="34" charset="0"/>
              </a:rPr>
              <a:t>Spectroscopic Effective Potentials</a:t>
            </a:r>
          </a:p>
        </p:txBody>
      </p:sp>
      <p:sp>
        <p:nvSpPr>
          <p:cNvPr id="5" name="Line 11">
            <a:extLst>
              <a:ext uri="{FF2B5EF4-FFF2-40B4-BE49-F238E27FC236}">
                <a16:creationId xmlns:a16="http://schemas.microsoft.com/office/drawing/2014/main" id="{139F0E41-ABA8-496F-9F38-8A45BEC2D437}"/>
              </a:ext>
            </a:extLst>
          </p:cNvPr>
          <p:cNvSpPr>
            <a:spLocks noChangeShapeType="1"/>
          </p:cNvSpPr>
          <p:nvPr/>
        </p:nvSpPr>
        <p:spPr bwMode="auto">
          <a:xfrm>
            <a:off x="2411050" y="1727887"/>
            <a:ext cx="8305800" cy="0"/>
          </a:xfrm>
          <a:prstGeom prst="line">
            <a:avLst/>
          </a:prstGeom>
          <a:noFill/>
          <a:ln w="63500">
            <a:solidFill>
              <a:srgbClr val="A31954"/>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 name="TextBox 5">
            <a:extLst>
              <a:ext uri="{FF2B5EF4-FFF2-40B4-BE49-F238E27FC236}">
                <a16:creationId xmlns:a16="http://schemas.microsoft.com/office/drawing/2014/main" id="{9CEA8409-4668-4458-8D37-D13B083C6303}"/>
              </a:ext>
            </a:extLst>
          </p:cNvPr>
          <p:cNvSpPr txBox="1"/>
          <p:nvPr/>
        </p:nvSpPr>
        <p:spPr>
          <a:xfrm>
            <a:off x="2945173" y="1314507"/>
            <a:ext cx="7237554" cy="338554"/>
          </a:xfrm>
          <a:prstGeom prst="rect">
            <a:avLst/>
          </a:prstGeom>
          <a:noFill/>
        </p:spPr>
        <p:txBody>
          <a:bodyPr wrap="square" rtlCol="0">
            <a:spAutoFit/>
          </a:bodyPr>
          <a:lstStyle/>
          <a:p>
            <a:pPr algn="l"/>
            <a:r>
              <a:rPr lang="en-US" sz="1600" b="0" i="0" u="none" strike="noStrike" baseline="0" dirty="0">
                <a:latin typeface="Arial" panose="020B0604020202020204" pitchFamily="34" charset="0"/>
                <a:cs typeface="Arial" panose="020B0604020202020204" pitchFamily="34" charset="0"/>
              </a:rPr>
              <a:t>STEPHEN L COY, ROBERT W FIELD, MIT Chemistry, </a:t>
            </a:r>
            <a:r>
              <a:rPr lang="en-US" sz="1600" b="0" i="1" u="none" strike="noStrike" baseline="0" dirty="0">
                <a:latin typeface="Arial" panose="020B0604020202020204" pitchFamily="34" charset="0"/>
                <a:cs typeface="Arial" panose="020B0604020202020204" pitchFamily="34" charset="0"/>
              </a:rPr>
              <a:t>Cambridge, MA, USA</a:t>
            </a:r>
            <a:r>
              <a:rPr lang="en-US" sz="1600" b="0" i="0" u="none" strike="noStrike" baseline="0"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p:txBody>
      </p:sp>
      <p:sp>
        <p:nvSpPr>
          <p:cNvPr id="7" name="Footer Placeholder 6">
            <a:extLst>
              <a:ext uri="{FF2B5EF4-FFF2-40B4-BE49-F238E27FC236}">
                <a16:creationId xmlns:a16="http://schemas.microsoft.com/office/drawing/2014/main" id="{2FDA171C-975F-40F7-96E8-D38361B25DD4}"/>
              </a:ext>
            </a:extLst>
          </p:cNvPr>
          <p:cNvSpPr>
            <a:spLocks noGrp="1"/>
          </p:cNvSpPr>
          <p:nvPr>
            <p:ph type="ftr" sz="quarter" idx="11"/>
          </p:nvPr>
        </p:nvSpPr>
        <p:spPr/>
        <p:txBody>
          <a:bodyPr/>
          <a:lstStyle/>
          <a:p>
            <a:r>
              <a:rPr lang="en-US"/>
              <a:t>ISMS 2024 Coy, FieldComp Chemand Effective pPotentials</a:t>
            </a:r>
          </a:p>
        </p:txBody>
      </p:sp>
      <p:sp>
        <p:nvSpPr>
          <p:cNvPr id="8" name="Slide Number Placeholder 7">
            <a:extLst>
              <a:ext uri="{FF2B5EF4-FFF2-40B4-BE49-F238E27FC236}">
                <a16:creationId xmlns:a16="http://schemas.microsoft.com/office/drawing/2014/main" id="{A088A1DA-08F7-487E-8F38-BB98E49961AB}"/>
              </a:ext>
            </a:extLst>
          </p:cNvPr>
          <p:cNvSpPr>
            <a:spLocks noGrp="1"/>
          </p:cNvSpPr>
          <p:nvPr>
            <p:ph type="sldNum" sz="quarter" idx="12"/>
          </p:nvPr>
        </p:nvSpPr>
        <p:spPr/>
        <p:txBody>
          <a:bodyPr/>
          <a:lstStyle/>
          <a:p>
            <a:fld id="{4100E85D-C03B-4CB7-A13D-94C0497B8BAA}" type="slidenum">
              <a:rPr lang="en-US" smtClean="0"/>
              <a:t>1</a:t>
            </a:fld>
            <a:endParaRPr lang="en-US"/>
          </a:p>
        </p:txBody>
      </p:sp>
      <p:graphicFrame>
        <p:nvGraphicFramePr>
          <p:cNvPr id="9" name="Diagram 8">
            <a:extLst>
              <a:ext uri="{FF2B5EF4-FFF2-40B4-BE49-F238E27FC236}">
                <a16:creationId xmlns:a16="http://schemas.microsoft.com/office/drawing/2014/main" id="{171EF69B-59FC-4FE9-8E77-9B74EB2405FF}"/>
              </a:ext>
            </a:extLst>
          </p:cNvPr>
          <p:cNvGraphicFramePr/>
          <p:nvPr>
            <p:extLst>
              <p:ext uri="{D42A27DB-BD31-4B8C-83A1-F6EECF244321}">
                <p14:modId xmlns:p14="http://schemas.microsoft.com/office/powerpoint/2010/main" val="748505028"/>
              </p:ext>
            </p:extLst>
          </p:nvPr>
        </p:nvGraphicFramePr>
        <p:xfrm>
          <a:off x="417586" y="914083"/>
          <a:ext cx="10936214" cy="54870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58537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B4D871E-E41A-4452-89BA-C78430C0F026}"/>
              </a:ext>
            </a:extLst>
          </p:cNvPr>
          <p:cNvSpPr>
            <a:spLocks noGrp="1"/>
          </p:cNvSpPr>
          <p:nvPr>
            <p:ph type="ftr" sz="quarter" idx="11"/>
          </p:nvPr>
        </p:nvSpPr>
        <p:spPr/>
        <p:txBody>
          <a:bodyPr/>
          <a:lstStyle/>
          <a:p>
            <a:r>
              <a:rPr lang="en-US"/>
              <a:t>ISMS 2024 Coy, FieldComp Chemand Effective pPotentials</a:t>
            </a:r>
          </a:p>
        </p:txBody>
      </p:sp>
      <p:sp>
        <p:nvSpPr>
          <p:cNvPr id="3" name="Slide Number Placeholder 2">
            <a:extLst>
              <a:ext uri="{FF2B5EF4-FFF2-40B4-BE49-F238E27FC236}">
                <a16:creationId xmlns:a16="http://schemas.microsoft.com/office/drawing/2014/main" id="{B56A8588-0D9E-4143-9FE9-2D5AF6C9806C}"/>
              </a:ext>
            </a:extLst>
          </p:cNvPr>
          <p:cNvSpPr>
            <a:spLocks noGrp="1"/>
          </p:cNvSpPr>
          <p:nvPr>
            <p:ph type="sldNum" sz="quarter" idx="12"/>
          </p:nvPr>
        </p:nvSpPr>
        <p:spPr/>
        <p:txBody>
          <a:bodyPr/>
          <a:lstStyle/>
          <a:p>
            <a:fld id="{4100E85D-C03B-4CB7-A13D-94C0497B8BAA}" type="slidenum">
              <a:rPr lang="en-US" smtClean="0"/>
              <a:t>2</a:t>
            </a:fld>
            <a:endParaRPr lang="en-US"/>
          </a:p>
        </p:txBody>
      </p:sp>
      <p:sp>
        <p:nvSpPr>
          <p:cNvPr id="4" name="TextBox 3">
            <a:extLst>
              <a:ext uri="{FF2B5EF4-FFF2-40B4-BE49-F238E27FC236}">
                <a16:creationId xmlns:a16="http://schemas.microsoft.com/office/drawing/2014/main" id="{32DFE034-B608-495D-8F32-A0475F0FB11D}"/>
              </a:ext>
            </a:extLst>
          </p:cNvPr>
          <p:cNvSpPr txBox="1"/>
          <p:nvPr/>
        </p:nvSpPr>
        <p:spPr>
          <a:xfrm>
            <a:off x="2624920" y="143729"/>
            <a:ext cx="6942160" cy="830997"/>
          </a:xfrm>
          <a:prstGeom prst="rect">
            <a:avLst/>
          </a:prstGeom>
          <a:noFill/>
        </p:spPr>
        <p:txBody>
          <a:bodyPr wrap="square" rtlCol="0">
            <a:spAutoFit/>
          </a:bodyPr>
          <a:lstStyle/>
          <a:p>
            <a:pPr algn="ctr"/>
            <a:r>
              <a:rPr lang="en-US" sz="2400" b="1" i="0" u="none" strike="noStrike" baseline="0" dirty="0">
                <a:latin typeface="Arial" panose="020B0604020202020204" pitchFamily="34" charset="0"/>
                <a:cs typeface="Arial" panose="020B0604020202020204" pitchFamily="34" charset="0"/>
              </a:rPr>
              <a:t>Primitive to Traceless:  </a:t>
            </a:r>
          </a:p>
          <a:p>
            <a:pPr algn="ctr"/>
            <a:r>
              <a:rPr lang="en-US" sz="2400" b="1" i="0" u="none" strike="noStrike" baseline="0" dirty="0">
                <a:latin typeface="Arial" panose="020B0604020202020204" pitchFamily="34" charset="0"/>
                <a:cs typeface="Arial" panose="020B0604020202020204" pitchFamily="34" charset="0"/>
              </a:rPr>
              <a:t>Contents</a:t>
            </a:r>
          </a:p>
        </p:txBody>
      </p:sp>
      <p:sp>
        <p:nvSpPr>
          <p:cNvPr id="5" name="TextBox 4">
            <a:extLst>
              <a:ext uri="{FF2B5EF4-FFF2-40B4-BE49-F238E27FC236}">
                <a16:creationId xmlns:a16="http://schemas.microsoft.com/office/drawing/2014/main" id="{A57D7194-E4D3-4E3B-B9E0-3507DF2A606A}"/>
              </a:ext>
            </a:extLst>
          </p:cNvPr>
          <p:cNvSpPr txBox="1"/>
          <p:nvPr/>
        </p:nvSpPr>
        <p:spPr>
          <a:xfrm>
            <a:off x="1717590" y="1264881"/>
            <a:ext cx="9094573" cy="5078313"/>
          </a:xfrm>
          <a:prstGeom prst="rect">
            <a:avLst/>
          </a:prstGeom>
          <a:noFill/>
        </p:spPr>
        <p:txBody>
          <a:bodyPr wrap="square" rtlCol="0">
            <a:spAutoFit/>
          </a:bodyPr>
          <a:lstStyle/>
          <a:p>
            <a:pPr marL="285750" indent="-285750">
              <a:buFont typeface="Arial" panose="020B0604020202020204" pitchFamily="34" charset="0"/>
              <a:buChar char="•"/>
            </a:pPr>
            <a:r>
              <a:rPr lang="en-US" dirty="0"/>
              <a:t>Role of multipole moments and wave functions in electronic state analysis</a:t>
            </a:r>
          </a:p>
          <a:p>
            <a:pPr marL="742950" lvl="1" indent="-285750">
              <a:buFont typeface="Arial" panose="020B0604020202020204" pitchFamily="34" charset="0"/>
              <a:buChar char="•"/>
            </a:pPr>
            <a:r>
              <a:rPr lang="en-US" dirty="0"/>
              <a:t>Dipole moments for Stark effect</a:t>
            </a:r>
          </a:p>
          <a:p>
            <a:pPr marL="742950" lvl="1" indent="-285750">
              <a:buFont typeface="Arial" panose="020B0604020202020204" pitchFamily="34" charset="0"/>
              <a:buChar char="•"/>
            </a:pPr>
            <a:r>
              <a:rPr lang="en-US" dirty="0"/>
              <a:t>Quadrupole moments for birefringence</a:t>
            </a:r>
          </a:p>
          <a:p>
            <a:pPr marL="742950" lvl="1" indent="-285750">
              <a:buFont typeface="Arial" panose="020B0604020202020204" pitchFamily="34" charset="0"/>
              <a:buChar char="•"/>
            </a:pPr>
            <a:r>
              <a:rPr lang="en-US" dirty="0"/>
              <a:t>Higher moments to distinguish and characterize electronic structure</a:t>
            </a:r>
          </a:p>
          <a:p>
            <a:pPr marL="285750" indent="-285750">
              <a:buFont typeface="Arial" panose="020B0604020202020204" pitchFamily="34" charset="0"/>
              <a:buChar char="•"/>
            </a:pPr>
            <a:r>
              <a:rPr lang="en-US" dirty="0"/>
              <a:t>Cartesian and spherical harmonic expansions of the molecular electrostatic potential</a:t>
            </a:r>
          </a:p>
          <a:p>
            <a:pPr marL="742950" lvl="1" indent="-285750">
              <a:buFont typeface="Arial" panose="020B0604020202020204" pitchFamily="34" charset="0"/>
              <a:buChar char="•"/>
            </a:pPr>
            <a:r>
              <a:rPr lang="en-US" dirty="0"/>
              <a:t>Cartesian permutation complex, but useful for general geometry and for polarizability</a:t>
            </a:r>
          </a:p>
          <a:p>
            <a:pPr marL="742950" lvl="1" indent="-285750">
              <a:buFont typeface="Arial" panose="020B0604020202020204" pitchFamily="34" charset="0"/>
              <a:buChar char="•"/>
            </a:pPr>
            <a:r>
              <a:rPr lang="en-US" dirty="0"/>
              <a:t>Spherical, correct degeneracy, but uniaxial character a problem for general geometry and for polarizability</a:t>
            </a:r>
          </a:p>
          <a:p>
            <a:pPr marL="285750" indent="-285750">
              <a:buFont typeface="Arial" panose="020B0604020202020204" pitchFamily="34" charset="0"/>
              <a:buChar char="•"/>
            </a:pPr>
            <a:r>
              <a:rPr lang="en-US" dirty="0"/>
              <a:t>Context: CFOUR MOLDEN files, checked by ORCA and MRCC. Auxiliary programs, primarily </a:t>
            </a:r>
            <a:r>
              <a:rPr lang="en-US" dirty="0" err="1"/>
              <a:t>Multiwfn</a:t>
            </a:r>
            <a:r>
              <a:rPr lang="en-US" dirty="0"/>
              <a:t>.</a:t>
            </a:r>
          </a:p>
          <a:p>
            <a:pPr marL="285750" indent="-285750">
              <a:buFont typeface="Arial" panose="020B0604020202020204" pitchFamily="34" charset="0"/>
              <a:buChar char="•"/>
            </a:pPr>
            <a:r>
              <a:rPr lang="en-US" dirty="0"/>
              <a:t>Example of the Cartesian expansion, for bent HNO</a:t>
            </a:r>
          </a:p>
          <a:p>
            <a:pPr marL="742950" lvl="1" indent="-285750">
              <a:buFont typeface="Arial" panose="020B0604020202020204" pitchFamily="34" charset="0"/>
              <a:buChar char="•"/>
            </a:pPr>
            <a:r>
              <a:rPr lang="en-US" dirty="0"/>
              <a:t>By angular momentum, tables of term, term permutation weights, forms for primitive (== traced) and traceless expressions, HNO values </a:t>
            </a:r>
          </a:p>
          <a:p>
            <a:pPr marL="742950" lvl="1" indent="-285750">
              <a:buFont typeface="Arial" panose="020B0604020202020204" pitchFamily="34" charset="0"/>
              <a:buChar char="•"/>
            </a:pPr>
            <a:r>
              <a:rPr lang="en-US" dirty="0"/>
              <a:t>Matching by </a:t>
            </a:r>
            <a:r>
              <a:rPr lang="en-US" dirty="0" err="1"/>
              <a:t>Molden</a:t>
            </a:r>
            <a:r>
              <a:rPr lang="en-US" dirty="0"/>
              <a:t> file in </a:t>
            </a:r>
            <a:r>
              <a:rPr lang="en-US" dirty="0" err="1"/>
              <a:t>Multiwfn</a:t>
            </a:r>
            <a:r>
              <a:rPr lang="en-US" dirty="0"/>
              <a:t> of CFOUR-calculated dipole through octupole traceless moments, using a repaired version of CFOUR.</a:t>
            </a:r>
          </a:p>
          <a:p>
            <a:pPr marL="285750" indent="-285750">
              <a:buFont typeface="Arial" panose="020B0604020202020204" pitchFamily="34" charset="0"/>
              <a:buChar char="•"/>
            </a:pPr>
            <a:r>
              <a:rPr lang="en-US" dirty="0"/>
              <a:t>Quick view of </a:t>
            </a:r>
            <a:r>
              <a:rPr lang="en-US" dirty="0" err="1"/>
              <a:t>ScO</a:t>
            </a:r>
            <a:r>
              <a:rPr lang="en-US" dirty="0"/>
              <a:t> odd-L quartet states resolved only by quadrupole and octupole</a:t>
            </a:r>
          </a:p>
          <a:p>
            <a:pPr marL="285750" indent="-285750">
              <a:buFont typeface="Arial" panose="020B0604020202020204" pitchFamily="34" charset="0"/>
              <a:buChar char="•"/>
            </a:pPr>
            <a:r>
              <a:rPr lang="en-US" dirty="0"/>
              <a:t>Conclusion and CFOUR fix availability</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26187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A2B3121-D1D4-44DA-82BB-62BA876952C4}"/>
              </a:ext>
            </a:extLst>
          </p:cNvPr>
          <p:cNvSpPr>
            <a:spLocks noGrp="1"/>
          </p:cNvSpPr>
          <p:nvPr>
            <p:ph type="ftr" sz="quarter" idx="11"/>
          </p:nvPr>
        </p:nvSpPr>
        <p:spPr/>
        <p:txBody>
          <a:bodyPr/>
          <a:lstStyle/>
          <a:p>
            <a:r>
              <a:rPr lang="en-US"/>
              <a:t>ISMS 2024 Coy, FieldComp Chemand Effective pPotentials</a:t>
            </a:r>
          </a:p>
        </p:txBody>
      </p:sp>
      <p:sp>
        <p:nvSpPr>
          <p:cNvPr id="3" name="Slide Number Placeholder 2">
            <a:extLst>
              <a:ext uri="{FF2B5EF4-FFF2-40B4-BE49-F238E27FC236}">
                <a16:creationId xmlns:a16="http://schemas.microsoft.com/office/drawing/2014/main" id="{93230DDD-6FF8-454F-A1DA-A4E10C7CD4F1}"/>
              </a:ext>
            </a:extLst>
          </p:cNvPr>
          <p:cNvSpPr>
            <a:spLocks noGrp="1"/>
          </p:cNvSpPr>
          <p:nvPr>
            <p:ph type="sldNum" sz="quarter" idx="12"/>
          </p:nvPr>
        </p:nvSpPr>
        <p:spPr/>
        <p:txBody>
          <a:bodyPr/>
          <a:lstStyle/>
          <a:p>
            <a:fld id="{4100E85D-C03B-4CB7-A13D-94C0497B8BAA}" type="slidenum">
              <a:rPr lang="en-US" smtClean="0"/>
              <a:t>3</a:t>
            </a:fld>
            <a:endParaRPr lang="en-US"/>
          </a:p>
        </p:txBody>
      </p:sp>
      <p:sp>
        <p:nvSpPr>
          <p:cNvPr id="4" name="TextBox 3">
            <a:extLst>
              <a:ext uri="{FF2B5EF4-FFF2-40B4-BE49-F238E27FC236}">
                <a16:creationId xmlns:a16="http://schemas.microsoft.com/office/drawing/2014/main" id="{32082BA8-BDAD-4273-A8E4-46EF8E41E942}"/>
              </a:ext>
            </a:extLst>
          </p:cNvPr>
          <p:cNvSpPr txBox="1"/>
          <p:nvPr/>
        </p:nvSpPr>
        <p:spPr>
          <a:xfrm>
            <a:off x="2624920" y="143729"/>
            <a:ext cx="6942160" cy="830997"/>
          </a:xfrm>
          <a:prstGeom prst="rect">
            <a:avLst/>
          </a:prstGeom>
          <a:noFill/>
        </p:spPr>
        <p:txBody>
          <a:bodyPr wrap="square" rtlCol="0">
            <a:spAutoFit/>
          </a:bodyPr>
          <a:lstStyle/>
          <a:p>
            <a:pPr algn="ctr"/>
            <a:r>
              <a:rPr lang="en-US" sz="2400" b="1" i="0" u="none" strike="noStrike" baseline="0" dirty="0">
                <a:latin typeface="Arial" panose="020B0604020202020204" pitchFamily="34" charset="0"/>
                <a:cs typeface="Arial" panose="020B0604020202020204" pitchFamily="34" charset="0"/>
              </a:rPr>
              <a:t>Primitive to Traceless:  </a:t>
            </a:r>
          </a:p>
          <a:p>
            <a:pPr algn="ctr"/>
            <a:r>
              <a:rPr lang="en-US" sz="2400" b="1" i="0" u="none" strike="noStrike" baseline="0" dirty="0">
                <a:latin typeface="Arial" panose="020B0604020202020204" pitchFamily="34" charset="0"/>
                <a:cs typeface="Arial" panose="020B0604020202020204" pitchFamily="34" charset="0"/>
              </a:rPr>
              <a:t>Single-Reference Computational Chemistry</a:t>
            </a:r>
          </a:p>
        </p:txBody>
      </p:sp>
      <p:sp>
        <p:nvSpPr>
          <p:cNvPr id="5" name="TextBox 4">
            <a:extLst>
              <a:ext uri="{FF2B5EF4-FFF2-40B4-BE49-F238E27FC236}">
                <a16:creationId xmlns:a16="http://schemas.microsoft.com/office/drawing/2014/main" id="{B39B0147-7F40-4C24-9A00-3CB6A006B2C3}"/>
              </a:ext>
            </a:extLst>
          </p:cNvPr>
          <p:cNvSpPr txBox="1"/>
          <p:nvPr/>
        </p:nvSpPr>
        <p:spPr>
          <a:xfrm>
            <a:off x="507371" y="1950522"/>
            <a:ext cx="4235097" cy="4247317"/>
          </a:xfrm>
          <a:prstGeom prst="rect">
            <a:avLst/>
          </a:prstGeom>
          <a:noFill/>
        </p:spPr>
        <p:txBody>
          <a:bodyPr wrap="square" rtlCol="0">
            <a:spAutoFit/>
          </a:bodyPr>
          <a:lstStyle/>
          <a:p>
            <a:pPr marL="285750" indent="-285750">
              <a:buFont typeface="Arial" panose="020B0604020202020204" pitchFamily="34" charset="0"/>
              <a:buChar char="•"/>
            </a:pPr>
            <a:r>
              <a:rPr lang="en-US" dirty="0"/>
              <a:t>Computation chemistry can be applied in generating  interaction potentials, ionic and covalent properties, lifetimes and transition moments.</a:t>
            </a:r>
          </a:p>
          <a:p>
            <a:pPr marL="285750" indent="-285750">
              <a:buFont typeface="Arial" panose="020B0604020202020204" pitchFamily="34" charset="0"/>
              <a:buChar char="•"/>
            </a:pPr>
            <a:r>
              <a:rPr lang="en-US" dirty="0"/>
              <a:t>Extending computational results to obtain insight into dynamics and predicting application requires transfer of the calc data to other analysis programs and methods .</a:t>
            </a:r>
          </a:p>
          <a:p>
            <a:pPr marL="285750" indent="-285750">
              <a:buFont typeface="Arial" panose="020B0604020202020204" pitchFamily="34" charset="0"/>
              <a:buChar char="•"/>
            </a:pPr>
            <a:r>
              <a:rPr lang="en-US" dirty="0"/>
              <a:t>One of the sources of wave function and charge density data is the MOLDEN file, originally for the vintage MOLDEN application, but now widely used by other apps..</a:t>
            </a:r>
          </a:p>
          <a:p>
            <a:r>
              <a:rPr lang="en-US" dirty="0"/>
              <a:t> </a:t>
            </a:r>
          </a:p>
        </p:txBody>
      </p:sp>
      <p:sp>
        <p:nvSpPr>
          <p:cNvPr id="6" name="TextBox 5">
            <a:extLst>
              <a:ext uri="{FF2B5EF4-FFF2-40B4-BE49-F238E27FC236}">
                <a16:creationId xmlns:a16="http://schemas.microsoft.com/office/drawing/2014/main" id="{0616167E-6395-4404-9C8D-2C100BB903F0}"/>
              </a:ext>
            </a:extLst>
          </p:cNvPr>
          <p:cNvSpPr txBox="1"/>
          <p:nvPr/>
        </p:nvSpPr>
        <p:spPr>
          <a:xfrm>
            <a:off x="6096000" y="1970825"/>
            <a:ext cx="4952747" cy="3970318"/>
          </a:xfrm>
          <a:prstGeom prst="rect">
            <a:avLst/>
          </a:prstGeom>
          <a:noFill/>
        </p:spPr>
        <p:txBody>
          <a:bodyPr wrap="square" rtlCol="0">
            <a:spAutoFit/>
          </a:bodyPr>
          <a:lstStyle/>
          <a:p>
            <a:pPr marL="285750" indent="-285750">
              <a:buFont typeface="Arial" panose="020B0604020202020204" pitchFamily="34" charset="0"/>
              <a:buChar char="•"/>
            </a:pPr>
            <a:r>
              <a:rPr lang="en-US" dirty="0"/>
              <a:t>Experimental spectroscopy, molecular clustering and intermolecular energy transfer occur near vibrational and electronic equilibrium configurations.</a:t>
            </a:r>
          </a:p>
          <a:p>
            <a:pPr marL="285750" indent="-285750">
              <a:buFont typeface="Arial" panose="020B0604020202020204" pitchFamily="34" charset="0"/>
              <a:buChar char="•"/>
            </a:pPr>
            <a:r>
              <a:rPr lang="en-US" dirty="0"/>
              <a:t>Near equilibrium configurations can be represented by single-reference coupled-cluster or DFT calculations.</a:t>
            </a:r>
          </a:p>
          <a:p>
            <a:pPr marL="285750" indent="-285750">
              <a:buFont typeface="Arial" panose="020B0604020202020204" pitchFamily="34" charset="0"/>
              <a:buChar char="•"/>
            </a:pPr>
            <a:r>
              <a:rPr lang="en-US" dirty="0"/>
              <a:t>Calculated wave functions are made available in formats that include </a:t>
            </a:r>
            <a:r>
              <a:rPr lang="en-US" dirty="0" err="1"/>
              <a:t>molden</a:t>
            </a:r>
            <a:r>
              <a:rPr lang="en-US" dirty="0"/>
              <a:t>, and AIM (</a:t>
            </a:r>
            <a:r>
              <a:rPr lang="en-US" dirty="0" err="1"/>
              <a:t>wfn</a:t>
            </a:r>
            <a:r>
              <a:rPr lang="en-US" dirty="0"/>
              <a:t> , </a:t>
            </a:r>
            <a:r>
              <a:rPr lang="en-US" dirty="0" err="1"/>
              <a:t>wfx</a:t>
            </a:r>
            <a:r>
              <a:rPr lang="en-US" dirty="0"/>
              <a:t>) that allow further analysis of the wavefunctions.</a:t>
            </a:r>
          </a:p>
          <a:p>
            <a:pPr marL="285750" indent="-285750">
              <a:buFont typeface="Arial" panose="020B0604020202020204" pitchFamily="34" charset="0"/>
              <a:buChar char="•"/>
            </a:pPr>
            <a:r>
              <a:rPr lang="en-US" dirty="0"/>
              <a:t>We are going to give examples and then dive into the “standard” and “traceless” representations.</a:t>
            </a:r>
          </a:p>
        </p:txBody>
      </p:sp>
      <p:sp>
        <p:nvSpPr>
          <p:cNvPr id="8" name="TextBox 7">
            <a:extLst>
              <a:ext uri="{FF2B5EF4-FFF2-40B4-BE49-F238E27FC236}">
                <a16:creationId xmlns:a16="http://schemas.microsoft.com/office/drawing/2014/main" id="{DE2A1CBF-AA8E-43B7-B79E-D8C096E16F1A}"/>
              </a:ext>
            </a:extLst>
          </p:cNvPr>
          <p:cNvSpPr txBox="1"/>
          <p:nvPr/>
        </p:nvSpPr>
        <p:spPr>
          <a:xfrm>
            <a:off x="1922929" y="1256412"/>
            <a:ext cx="1210588"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Theory</a:t>
            </a:r>
          </a:p>
        </p:txBody>
      </p:sp>
      <p:sp>
        <p:nvSpPr>
          <p:cNvPr id="9" name="TextBox 8">
            <a:extLst>
              <a:ext uri="{FF2B5EF4-FFF2-40B4-BE49-F238E27FC236}">
                <a16:creationId xmlns:a16="http://schemas.microsoft.com/office/drawing/2014/main" id="{8E273913-289A-4396-82E6-EFB245B28D57}"/>
              </a:ext>
            </a:extLst>
          </p:cNvPr>
          <p:cNvSpPr txBox="1"/>
          <p:nvPr/>
        </p:nvSpPr>
        <p:spPr>
          <a:xfrm>
            <a:off x="6476297" y="1324785"/>
            <a:ext cx="3671198"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Theory with Experiment</a:t>
            </a:r>
          </a:p>
        </p:txBody>
      </p:sp>
    </p:spTree>
    <p:extLst>
      <p:ext uri="{BB962C8B-B14F-4D97-AF65-F5344CB8AC3E}">
        <p14:creationId xmlns:p14="http://schemas.microsoft.com/office/powerpoint/2010/main" val="1240447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D480965-ACF1-4684-9990-719338BC4931}"/>
              </a:ext>
            </a:extLst>
          </p:cNvPr>
          <p:cNvSpPr>
            <a:spLocks noGrp="1"/>
          </p:cNvSpPr>
          <p:nvPr>
            <p:ph type="ftr" sz="quarter" idx="11"/>
          </p:nvPr>
        </p:nvSpPr>
        <p:spPr/>
        <p:txBody>
          <a:bodyPr/>
          <a:lstStyle/>
          <a:p>
            <a:r>
              <a:rPr lang="en-US"/>
              <a:t>ISMS 2024 Coy, FieldComp Chemand Effective pPotentials</a:t>
            </a:r>
          </a:p>
        </p:txBody>
      </p:sp>
      <p:sp>
        <p:nvSpPr>
          <p:cNvPr id="3" name="Slide Number Placeholder 2">
            <a:extLst>
              <a:ext uri="{FF2B5EF4-FFF2-40B4-BE49-F238E27FC236}">
                <a16:creationId xmlns:a16="http://schemas.microsoft.com/office/drawing/2014/main" id="{2D5E9648-3A8F-4F47-B4AD-B8DA60EFFBCD}"/>
              </a:ext>
            </a:extLst>
          </p:cNvPr>
          <p:cNvSpPr>
            <a:spLocks noGrp="1"/>
          </p:cNvSpPr>
          <p:nvPr>
            <p:ph type="sldNum" sz="quarter" idx="12"/>
          </p:nvPr>
        </p:nvSpPr>
        <p:spPr/>
        <p:txBody>
          <a:bodyPr/>
          <a:lstStyle/>
          <a:p>
            <a:fld id="{4100E85D-C03B-4CB7-A13D-94C0497B8BAA}" type="slidenum">
              <a:rPr lang="en-US" smtClean="0"/>
              <a:t>4</a:t>
            </a:fld>
            <a:endParaRPr lang="en-US"/>
          </a:p>
        </p:txBody>
      </p:sp>
      <p:sp>
        <p:nvSpPr>
          <p:cNvPr id="4" name="TextBox 3">
            <a:extLst>
              <a:ext uri="{FF2B5EF4-FFF2-40B4-BE49-F238E27FC236}">
                <a16:creationId xmlns:a16="http://schemas.microsoft.com/office/drawing/2014/main" id="{7C958A86-D83C-481E-B5F6-C5C724C2B4DA}"/>
              </a:ext>
            </a:extLst>
          </p:cNvPr>
          <p:cNvSpPr txBox="1"/>
          <p:nvPr/>
        </p:nvSpPr>
        <p:spPr>
          <a:xfrm>
            <a:off x="2293633" y="835966"/>
            <a:ext cx="9094573" cy="2031325"/>
          </a:xfrm>
          <a:prstGeom prst="rect">
            <a:avLst/>
          </a:prstGeom>
          <a:noFill/>
        </p:spPr>
        <p:txBody>
          <a:bodyPr wrap="square" rtlCol="0">
            <a:spAutoFit/>
          </a:bodyPr>
          <a:lstStyle/>
          <a:p>
            <a:r>
              <a:rPr lang="en-US" b="1" dirty="0" err="1"/>
              <a:t>Molden</a:t>
            </a:r>
            <a:r>
              <a:rPr lang="en-US" b="1" dirty="0"/>
              <a:t> data as generated by the many programs</a:t>
            </a:r>
          </a:p>
          <a:p>
            <a:pPr marL="285750" indent="-285750">
              <a:buFont typeface="Arial" panose="020B0604020202020204" pitchFamily="34" charset="0"/>
              <a:buChar char="•"/>
            </a:pPr>
            <a:r>
              <a:rPr lang="en-US" dirty="0"/>
              <a:t>Available in Cartesian form or Spherical Harmonic form</a:t>
            </a:r>
          </a:p>
          <a:p>
            <a:pPr marL="285750" indent="-285750">
              <a:buFont typeface="Arial" panose="020B0604020202020204" pitchFamily="34" charset="0"/>
              <a:buChar char="•"/>
            </a:pPr>
            <a:r>
              <a:rPr lang="en-US" dirty="0"/>
              <a:t>The definitions of these forms are not the same across the many programs that use them.</a:t>
            </a:r>
          </a:p>
          <a:p>
            <a:pPr marL="285750" indent="-285750">
              <a:buFont typeface="Arial" panose="020B0604020202020204" pitchFamily="34" charset="0"/>
              <a:buChar char="•"/>
            </a:pPr>
            <a:r>
              <a:rPr lang="en-US" dirty="0"/>
              <a:t>There is no adequately defined standard, causing no end of difficulty.</a:t>
            </a:r>
          </a:p>
          <a:p>
            <a:pPr marL="285750" indent="-285750">
              <a:buFont typeface="Arial" panose="020B0604020202020204" pitchFamily="34" charset="0"/>
              <a:buChar char="•"/>
            </a:pPr>
            <a:r>
              <a:rPr lang="en-US" dirty="0"/>
              <a:t>The standard interpretation is that of Tian Lu’s </a:t>
            </a:r>
            <a:r>
              <a:rPr lang="en-US" dirty="0" err="1"/>
              <a:t>Multiwfn</a:t>
            </a:r>
            <a:r>
              <a:rPr lang="en-US" dirty="0"/>
              <a:t> because of a checking facility.</a:t>
            </a:r>
          </a:p>
          <a:p>
            <a:pPr marL="285750" indent="-285750">
              <a:buFont typeface="Arial" panose="020B0604020202020204" pitchFamily="34" charset="0"/>
              <a:buChar char="•"/>
            </a:pPr>
            <a:r>
              <a:rPr lang="en-US" dirty="0"/>
              <a:t>Forms can be interconverted by the molden2AIM program of  </a:t>
            </a:r>
            <a:r>
              <a:rPr lang="en-US" dirty="0" err="1"/>
              <a:t>Wenli</a:t>
            </a:r>
            <a:r>
              <a:rPr lang="en-US" dirty="0"/>
              <a:t> Zou.</a:t>
            </a:r>
          </a:p>
          <a:p>
            <a:pPr marL="742950" lvl="1" indent="-285750">
              <a:buFont typeface="Arial" panose="020B0604020202020204" pitchFamily="34" charset="0"/>
              <a:buChar char="•"/>
            </a:pPr>
            <a:r>
              <a:rPr lang="en-US" dirty="0"/>
              <a:t>molden2AIM usage.</a:t>
            </a:r>
          </a:p>
        </p:txBody>
      </p:sp>
      <p:pic>
        <p:nvPicPr>
          <p:cNvPr id="5" name="Picture 4">
            <a:extLst>
              <a:ext uri="{FF2B5EF4-FFF2-40B4-BE49-F238E27FC236}">
                <a16:creationId xmlns:a16="http://schemas.microsoft.com/office/drawing/2014/main" id="{C6599DE5-B55C-41BB-B600-D5CBE8272420}"/>
              </a:ext>
            </a:extLst>
          </p:cNvPr>
          <p:cNvPicPr>
            <a:picLocks noChangeAspect="1"/>
          </p:cNvPicPr>
          <p:nvPr/>
        </p:nvPicPr>
        <p:blipFill>
          <a:blip r:embed="rId2"/>
          <a:stretch>
            <a:fillRect/>
          </a:stretch>
        </p:blipFill>
        <p:spPr>
          <a:xfrm>
            <a:off x="5249078" y="2505518"/>
            <a:ext cx="4128125" cy="809984"/>
          </a:xfrm>
          <a:prstGeom prst="rect">
            <a:avLst/>
          </a:prstGeom>
        </p:spPr>
      </p:pic>
      <p:sp>
        <p:nvSpPr>
          <p:cNvPr id="6" name="TextBox 5">
            <a:extLst>
              <a:ext uri="{FF2B5EF4-FFF2-40B4-BE49-F238E27FC236}">
                <a16:creationId xmlns:a16="http://schemas.microsoft.com/office/drawing/2014/main" id="{80E20B50-4208-4543-A53B-45EDDA318F8D}"/>
              </a:ext>
            </a:extLst>
          </p:cNvPr>
          <p:cNvSpPr txBox="1"/>
          <p:nvPr/>
        </p:nvSpPr>
        <p:spPr>
          <a:xfrm>
            <a:off x="1854725" y="3368590"/>
            <a:ext cx="9094573" cy="2862322"/>
          </a:xfrm>
          <a:prstGeom prst="rect">
            <a:avLst/>
          </a:prstGeom>
          <a:noFill/>
        </p:spPr>
        <p:txBody>
          <a:bodyPr wrap="square" rtlCol="0">
            <a:spAutoFit/>
          </a:bodyPr>
          <a:lstStyle/>
          <a:p>
            <a:r>
              <a:rPr lang="en-US" b="1" dirty="0" err="1"/>
              <a:t>Molden</a:t>
            </a:r>
            <a:r>
              <a:rPr lang="en-US" b="1" dirty="0"/>
              <a:t> file validity must be checked!</a:t>
            </a:r>
          </a:p>
          <a:p>
            <a:pPr marL="285750" indent="-285750">
              <a:buFont typeface="Arial" panose="020B0604020202020204" pitchFamily="34" charset="0"/>
              <a:buChar char="•"/>
            </a:pPr>
            <a:r>
              <a:rPr lang="en-US" dirty="0"/>
              <a:t>Apps that read </a:t>
            </a:r>
            <a:r>
              <a:rPr lang="en-US" dirty="0" err="1"/>
              <a:t>molden</a:t>
            </a:r>
            <a:r>
              <a:rPr lang="en-US" dirty="0"/>
              <a:t> files apply their own interpretations which may be non-standard or just erroneous.</a:t>
            </a:r>
          </a:p>
          <a:p>
            <a:pPr marL="285750" indent="-285750">
              <a:buFont typeface="Arial" panose="020B0604020202020204" pitchFamily="34" charset="0"/>
              <a:buChar char="•"/>
            </a:pPr>
            <a:r>
              <a:rPr lang="en-US" dirty="0" err="1"/>
              <a:t>Multiwfn</a:t>
            </a:r>
            <a:r>
              <a:rPr lang="en-US" dirty="0"/>
              <a:t> can be used to analyze the </a:t>
            </a:r>
            <a:r>
              <a:rPr lang="en-US" dirty="0" err="1"/>
              <a:t>molden</a:t>
            </a:r>
            <a:r>
              <a:rPr lang="en-US" dirty="0"/>
              <a:t> file. Primary tests:</a:t>
            </a:r>
          </a:p>
          <a:p>
            <a:pPr marL="742950" lvl="1" indent="-285750">
              <a:buFont typeface="Arial" panose="020B0604020202020204" pitchFamily="34" charset="0"/>
              <a:buChar char="•"/>
            </a:pPr>
            <a:r>
              <a:rPr lang="en-US" dirty="0"/>
              <a:t>Correctness of the total number of electrons, charge, multiplicity,  …</a:t>
            </a:r>
          </a:p>
          <a:p>
            <a:pPr marL="742950" lvl="1" indent="-285750">
              <a:buFont typeface="Arial" panose="020B0604020202020204" pitchFamily="34" charset="0"/>
              <a:buChar char="•"/>
            </a:pPr>
            <a:r>
              <a:rPr lang="en-US" dirty="0"/>
              <a:t>Do the multipole moments calculated by </a:t>
            </a:r>
            <a:r>
              <a:rPr lang="en-US" dirty="0" err="1"/>
              <a:t>Multiwfn</a:t>
            </a:r>
            <a:r>
              <a:rPr lang="en-US" dirty="0"/>
              <a:t> match those value calculated by the ab-initio program?</a:t>
            </a:r>
          </a:p>
          <a:p>
            <a:pPr marL="285750" indent="-285750">
              <a:buFont typeface="Arial" panose="020B0604020202020204" pitchFamily="34" charset="0"/>
              <a:buChar char="•"/>
            </a:pPr>
            <a:r>
              <a:rPr lang="en-US" dirty="0"/>
              <a:t>If there is a problem,  results are qualitative at best, and the additional  analysis may be incorrect. </a:t>
            </a:r>
          </a:p>
          <a:p>
            <a:pPr marL="742950" lvl="1" indent="-285750">
              <a:buFont typeface="Arial" panose="020B0604020202020204" pitchFamily="34" charset="0"/>
              <a:buChar char="•"/>
            </a:pPr>
            <a:r>
              <a:rPr lang="en-US" dirty="0"/>
              <a:t>fix the ab-initio program source code (?).</a:t>
            </a:r>
          </a:p>
        </p:txBody>
      </p:sp>
      <p:sp>
        <p:nvSpPr>
          <p:cNvPr id="7" name="TextBox 6">
            <a:extLst>
              <a:ext uri="{FF2B5EF4-FFF2-40B4-BE49-F238E27FC236}">
                <a16:creationId xmlns:a16="http://schemas.microsoft.com/office/drawing/2014/main" id="{AB4E778C-8DC2-45F6-9B13-FE2F595F68C4}"/>
              </a:ext>
            </a:extLst>
          </p:cNvPr>
          <p:cNvSpPr txBox="1"/>
          <p:nvPr/>
        </p:nvSpPr>
        <p:spPr>
          <a:xfrm>
            <a:off x="2624920" y="54722"/>
            <a:ext cx="6942160" cy="461665"/>
          </a:xfrm>
          <a:prstGeom prst="rect">
            <a:avLst/>
          </a:prstGeom>
          <a:noFill/>
        </p:spPr>
        <p:txBody>
          <a:bodyPr wrap="square" rtlCol="0">
            <a:spAutoFit/>
          </a:bodyPr>
          <a:lstStyle/>
          <a:p>
            <a:pPr algn="ctr"/>
            <a:r>
              <a:rPr lang="en-US" sz="2400" b="1" i="0" u="none" strike="noStrike" baseline="0" dirty="0">
                <a:latin typeface="Arial" panose="020B0604020202020204" pitchFamily="34" charset="0"/>
                <a:cs typeface="Arial" panose="020B0604020202020204" pitchFamily="34" charset="0"/>
              </a:rPr>
              <a:t>Primitive to Traceless:  </a:t>
            </a:r>
            <a:r>
              <a:rPr lang="en-US" sz="2400" b="1" i="0" u="none" strike="noStrike" baseline="0" dirty="0" err="1">
                <a:latin typeface="Arial" panose="020B0604020202020204" pitchFamily="34" charset="0"/>
                <a:cs typeface="Arial" panose="020B0604020202020204" pitchFamily="34" charset="0"/>
              </a:rPr>
              <a:t>Molden</a:t>
            </a:r>
            <a:r>
              <a:rPr lang="en-US" sz="2400" b="1" i="0" u="none" strike="noStrike" baseline="0" dirty="0">
                <a:latin typeface="Arial" panose="020B0604020202020204" pitchFamily="34" charset="0"/>
                <a:cs typeface="Arial" panose="020B0604020202020204" pitchFamily="34" charset="0"/>
              </a:rPr>
              <a:t> files both ways</a:t>
            </a:r>
          </a:p>
        </p:txBody>
      </p:sp>
    </p:spTree>
    <p:extLst>
      <p:ext uri="{BB962C8B-B14F-4D97-AF65-F5344CB8AC3E}">
        <p14:creationId xmlns:p14="http://schemas.microsoft.com/office/powerpoint/2010/main" val="1864155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223C5BC-694D-4FA3-9556-F3BE0FC846D3}"/>
              </a:ext>
            </a:extLst>
          </p:cNvPr>
          <p:cNvSpPr>
            <a:spLocks noGrp="1"/>
          </p:cNvSpPr>
          <p:nvPr>
            <p:ph type="ftr" sz="quarter" idx="11"/>
          </p:nvPr>
        </p:nvSpPr>
        <p:spPr/>
        <p:txBody>
          <a:bodyPr/>
          <a:lstStyle/>
          <a:p>
            <a:r>
              <a:rPr lang="en-US"/>
              <a:t>ISMS 2024 Coy, FieldComp Chemand Effective pPotentials</a:t>
            </a:r>
          </a:p>
        </p:txBody>
      </p:sp>
      <p:sp>
        <p:nvSpPr>
          <p:cNvPr id="3" name="Slide Number Placeholder 2">
            <a:extLst>
              <a:ext uri="{FF2B5EF4-FFF2-40B4-BE49-F238E27FC236}">
                <a16:creationId xmlns:a16="http://schemas.microsoft.com/office/drawing/2014/main" id="{D0AA2C63-74C8-4C71-8BFC-34E6863E3BE6}"/>
              </a:ext>
            </a:extLst>
          </p:cNvPr>
          <p:cNvSpPr>
            <a:spLocks noGrp="1"/>
          </p:cNvSpPr>
          <p:nvPr>
            <p:ph type="sldNum" sz="quarter" idx="12"/>
          </p:nvPr>
        </p:nvSpPr>
        <p:spPr/>
        <p:txBody>
          <a:bodyPr/>
          <a:lstStyle/>
          <a:p>
            <a:fld id="{4100E85D-C03B-4CB7-A13D-94C0497B8BAA}" type="slidenum">
              <a:rPr lang="en-US" smtClean="0"/>
              <a:t>5</a:t>
            </a:fld>
            <a:endParaRPr lang="en-US"/>
          </a:p>
        </p:txBody>
      </p:sp>
      <p:sp>
        <p:nvSpPr>
          <p:cNvPr id="4" name="TextBox 3">
            <a:extLst>
              <a:ext uri="{FF2B5EF4-FFF2-40B4-BE49-F238E27FC236}">
                <a16:creationId xmlns:a16="http://schemas.microsoft.com/office/drawing/2014/main" id="{477F10A7-D332-4E3E-8B54-B9C873C7EC6A}"/>
              </a:ext>
            </a:extLst>
          </p:cNvPr>
          <p:cNvSpPr txBox="1"/>
          <p:nvPr/>
        </p:nvSpPr>
        <p:spPr>
          <a:xfrm>
            <a:off x="672353" y="143729"/>
            <a:ext cx="8894727" cy="1200329"/>
          </a:xfrm>
          <a:prstGeom prst="rect">
            <a:avLst/>
          </a:prstGeom>
          <a:noFill/>
        </p:spPr>
        <p:txBody>
          <a:bodyPr wrap="square" rtlCol="0">
            <a:spAutoFit/>
          </a:bodyPr>
          <a:lstStyle/>
          <a:p>
            <a:pPr algn="ctr"/>
            <a:r>
              <a:rPr lang="en-US" sz="2400" b="1" i="0" u="none" strike="noStrike" baseline="0" dirty="0">
                <a:latin typeface="Arial" panose="020B0604020202020204" pitchFamily="34" charset="0"/>
                <a:cs typeface="Arial" panose="020B0604020202020204" pitchFamily="34" charset="0"/>
              </a:rPr>
              <a:t>Primitive to Traceless:  </a:t>
            </a:r>
          </a:p>
          <a:p>
            <a:pPr algn="ctr"/>
            <a:r>
              <a:rPr lang="en-US" sz="2400" b="1" i="0" u="none" strike="noStrike" baseline="0" dirty="0">
                <a:latin typeface="Arial" panose="020B0604020202020204" pitchFamily="34" charset="0"/>
                <a:cs typeface="Arial" panose="020B0604020202020204" pitchFamily="34" charset="0"/>
              </a:rPr>
              <a:t>Two forms for Expansion: Cartesian and Spherical</a:t>
            </a:r>
          </a:p>
          <a:p>
            <a:pPr algn="ctr"/>
            <a:r>
              <a:rPr lang="en-US" sz="2400" b="1" dirty="0">
                <a:latin typeface="Arial" panose="020B0604020202020204" pitchFamily="34" charset="0"/>
                <a:cs typeface="Arial" panose="020B0604020202020204" pitchFamily="34" charset="0"/>
              </a:rPr>
              <a:t>Two origins: Taylor series and Coulomb sum rule</a:t>
            </a:r>
            <a:endParaRPr lang="en-US" sz="2400" b="1" i="0" u="none" strike="noStrike" baseline="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9B6374E0-1DE8-46E6-BE52-1BE0FEC1EAEB}"/>
              </a:ext>
            </a:extLst>
          </p:cNvPr>
          <p:cNvSpPr txBox="1"/>
          <p:nvPr/>
        </p:nvSpPr>
        <p:spPr>
          <a:xfrm>
            <a:off x="524435" y="1585329"/>
            <a:ext cx="4693024" cy="4247317"/>
          </a:xfrm>
          <a:prstGeom prst="rect">
            <a:avLst/>
          </a:prstGeom>
          <a:noFill/>
        </p:spPr>
        <p:txBody>
          <a:bodyPr wrap="square" rtlCol="0">
            <a:spAutoFit/>
          </a:bodyPr>
          <a:lstStyle/>
          <a:p>
            <a:r>
              <a:rPr lang="en-US" b="1" dirty="0"/>
              <a:t>Cartesian:  Good features</a:t>
            </a:r>
          </a:p>
          <a:p>
            <a:pPr marL="285750" indent="-285750">
              <a:buFont typeface="Arial" panose="020B0604020202020204" pitchFamily="34" charset="0"/>
              <a:buChar char="•"/>
            </a:pPr>
            <a:r>
              <a:rPr lang="en-US" dirty="0"/>
              <a:t>Cartesian is more flexible in mapping geometry to the symmetry of small to mid-sized molecules.</a:t>
            </a:r>
          </a:p>
          <a:p>
            <a:pPr marL="285750" indent="-285750">
              <a:buFont typeface="Arial" panose="020B0604020202020204" pitchFamily="34" charset="0"/>
              <a:buChar char="•"/>
            </a:pPr>
            <a:r>
              <a:rPr lang="en-US" dirty="0"/>
              <a:t>Cartesian coordinates can be transparently used in a  general polarizability expansion including polarizabilities of any order.</a:t>
            </a:r>
          </a:p>
          <a:p>
            <a:pPr marL="285750" indent="-285750">
              <a:buFont typeface="Arial" panose="020B0604020202020204" pitchFamily="34" charset="0"/>
              <a:buChar char="•"/>
            </a:pPr>
            <a:endParaRPr lang="en-US" dirty="0"/>
          </a:p>
          <a:p>
            <a:r>
              <a:rPr lang="en-US" b="1" dirty="0"/>
              <a:t>Cart. Bad</a:t>
            </a:r>
          </a:p>
          <a:p>
            <a:pPr marL="285750" indent="-285750">
              <a:buFont typeface="Arial" panose="020B0604020202020204" pitchFamily="34" charset="0"/>
              <a:buChar char="•"/>
            </a:pPr>
            <a:r>
              <a:rPr lang="en-US" dirty="0"/>
              <a:t>The degeneracy of Cartesian terms by angular momentum L is 3^L with the number of permutation-unique terms (L+1)(L+2)/2. </a:t>
            </a:r>
          </a:p>
          <a:p>
            <a:pPr marL="285750" indent="-285750">
              <a:buFont typeface="Arial" panose="020B0604020202020204" pitchFamily="34" charset="0"/>
              <a:buChar char="•"/>
            </a:pPr>
            <a:r>
              <a:rPr lang="en-US" dirty="0"/>
              <a:t>For L&gt;1, Poisson / Laplace relations are needed, but that cannot be done post-facto because of lack of uniqueness..</a:t>
            </a:r>
          </a:p>
        </p:txBody>
      </p:sp>
      <p:sp>
        <p:nvSpPr>
          <p:cNvPr id="6" name="TextBox 5">
            <a:extLst>
              <a:ext uri="{FF2B5EF4-FFF2-40B4-BE49-F238E27FC236}">
                <a16:creationId xmlns:a16="http://schemas.microsoft.com/office/drawing/2014/main" id="{EF44418E-A0F3-45A2-9F35-EBE68F781C36}"/>
              </a:ext>
            </a:extLst>
          </p:cNvPr>
          <p:cNvSpPr txBox="1"/>
          <p:nvPr/>
        </p:nvSpPr>
        <p:spPr>
          <a:xfrm>
            <a:off x="6082553" y="1549775"/>
            <a:ext cx="4693024" cy="4524315"/>
          </a:xfrm>
          <a:prstGeom prst="rect">
            <a:avLst/>
          </a:prstGeom>
          <a:noFill/>
        </p:spPr>
        <p:txBody>
          <a:bodyPr wrap="square" rtlCol="0">
            <a:spAutoFit/>
          </a:bodyPr>
          <a:lstStyle/>
          <a:p>
            <a:r>
              <a:rPr lang="en-US" b="1" dirty="0"/>
              <a:t>Spherical Harmonics: Good features</a:t>
            </a:r>
          </a:p>
          <a:p>
            <a:pPr marL="285750" indent="-285750">
              <a:buFont typeface="Arial" panose="020B0604020202020204" pitchFamily="34" charset="0"/>
              <a:buChar char="•"/>
            </a:pPr>
            <a:r>
              <a:rPr lang="en-US" dirty="0"/>
              <a:t>Each angular momentum L has exactly the expected minimum number of independent terms. (2L+1).</a:t>
            </a:r>
          </a:p>
          <a:p>
            <a:pPr marL="285750" indent="-285750">
              <a:buFont typeface="Arial" panose="020B0604020202020204" pitchFamily="34" charset="0"/>
              <a:buChar char="•"/>
            </a:pPr>
            <a:r>
              <a:rPr lang="en-US" dirty="0"/>
              <a:t>Real forms (</a:t>
            </a:r>
            <a:r>
              <a:rPr lang="en-US" dirty="0" err="1"/>
              <a:t>cos,sin</a:t>
            </a:r>
            <a:r>
              <a:rPr lang="en-US" dirty="0"/>
              <a:t>) of spherical </a:t>
            </a:r>
            <a:r>
              <a:rPr lang="en-US" dirty="0" err="1"/>
              <a:t>hrmonics</a:t>
            </a:r>
            <a:r>
              <a:rPr lang="en-US" dirty="0"/>
              <a:t> are used.</a:t>
            </a:r>
          </a:p>
          <a:p>
            <a:pPr marL="285750" indent="-285750">
              <a:buFont typeface="Arial" panose="020B0604020202020204" pitchFamily="34" charset="0"/>
              <a:buChar char="•"/>
            </a:pPr>
            <a:r>
              <a:rPr lang="en-US" dirty="0"/>
              <a:t>The spherical harmonic expansion can be generalized to </a:t>
            </a:r>
            <a:r>
              <a:rPr lang="en-US" dirty="0" err="1"/>
              <a:t>polarizabiliities</a:t>
            </a:r>
            <a:r>
              <a:rPr lang="en-US" dirty="0"/>
              <a:t> (Stone and </a:t>
            </a:r>
            <a:r>
              <a:rPr lang="en-US" dirty="0" err="1"/>
              <a:t>Misquitta</a:t>
            </a:r>
            <a:r>
              <a:rPr lang="en-US" dirty="0"/>
              <a:t>). .</a:t>
            </a:r>
          </a:p>
          <a:p>
            <a:pPr marL="285750" indent="-285750">
              <a:buFont typeface="Arial" panose="020B0604020202020204" pitchFamily="34" charset="0"/>
              <a:buChar char="•"/>
            </a:pPr>
            <a:endParaRPr lang="en-US" dirty="0"/>
          </a:p>
          <a:p>
            <a:r>
              <a:rPr lang="en-US" b="1" dirty="0" err="1"/>
              <a:t>SphH</a:t>
            </a:r>
            <a:r>
              <a:rPr lang="en-US" b="1" dirty="0"/>
              <a:t>: Bad</a:t>
            </a:r>
          </a:p>
          <a:p>
            <a:pPr marL="285750" indent="-285750">
              <a:buFont typeface="Arial" panose="020B0604020202020204" pitchFamily="34" charset="0"/>
              <a:buChar char="•"/>
            </a:pPr>
            <a:r>
              <a:rPr lang="en-US" dirty="0"/>
              <a:t>Uniaxial (R, theta, phi) does not map to a general molecule very well.</a:t>
            </a:r>
          </a:p>
          <a:p>
            <a:pPr marL="285750" indent="-285750">
              <a:buFont typeface="Arial" panose="020B0604020202020204" pitchFamily="34" charset="0"/>
              <a:buChar char="•"/>
            </a:pPr>
            <a:r>
              <a:rPr lang="en-US" dirty="0"/>
              <a:t>Spherical harmonic forms of higher polarizabilities are confusing and opaque. (very not nice!)</a:t>
            </a:r>
          </a:p>
        </p:txBody>
      </p:sp>
    </p:spTree>
    <p:extLst>
      <p:ext uri="{BB962C8B-B14F-4D97-AF65-F5344CB8AC3E}">
        <p14:creationId xmlns:p14="http://schemas.microsoft.com/office/powerpoint/2010/main" val="4104006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948A9B7-F811-4D7C-900E-A63624EAC9D7}"/>
              </a:ext>
            </a:extLst>
          </p:cNvPr>
          <p:cNvSpPr>
            <a:spLocks noGrp="1"/>
          </p:cNvSpPr>
          <p:nvPr>
            <p:ph type="ftr" sz="quarter" idx="11"/>
          </p:nvPr>
        </p:nvSpPr>
        <p:spPr/>
        <p:txBody>
          <a:bodyPr/>
          <a:lstStyle/>
          <a:p>
            <a:r>
              <a:rPr lang="en-US"/>
              <a:t>ISMS 2024 Coy, FieldComp Chemand Effective pPotentials</a:t>
            </a:r>
          </a:p>
        </p:txBody>
      </p:sp>
      <p:sp>
        <p:nvSpPr>
          <p:cNvPr id="3" name="Slide Number Placeholder 2">
            <a:extLst>
              <a:ext uri="{FF2B5EF4-FFF2-40B4-BE49-F238E27FC236}">
                <a16:creationId xmlns:a16="http://schemas.microsoft.com/office/drawing/2014/main" id="{3306D34B-F680-4F96-B8B2-F792D7BE1DE1}"/>
              </a:ext>
            </a:extLst>
          </p:cNvPr>
          <p:cNvSpPr>
            <a:spLocks noGrp="1"/>
          </p:cNvSpPr>
          <p:nvPr>
            <p:ph type="sldNum" sz="quarter" idx="12"/>
          </p:nvPr>
        </p:nvSpPr>
        <p:spPr/>
        <p:txBody>
          <a:bodyPr/>
          <a:lstStyle/>
          <a:p>
            <a:fld id="{4100E85D-C03B-4CB7-A13D-94C0497B8BAA}" type="slidenum">
              <a:rPr lang="en-US" smtClean="0"/>
              <a:t>6</a:t>
            </a:fld>
            <a:endParaRPr lang="en-US"/>
          </a:p>
        </p:txBody>
      </p:sp>
      <p:sp>
        <p:nvSpPr>
          <p:cNvPr id="4" name="TextBox 3">
            <a:extLst>
              <a:ext uri="{FF2B5EF4-FFF2-40B4-BE49-F238E27FC236}">
                <a16:creationId xmlns:a16="http://schemas.microsoft.com/office/drawing/2014/main" id="{DC5FCD03-316B-44CF-B4E8-D36AC9014C8E}"/>
              </a:ext>
            </a:extLst>
          </p:cNvPr>
          <p:cNvSpPr txBox="1"/>
          <p:nvPr/>
        </p:nvSpPr>
        <p:spPr>
          <a:xfrm>
            <a:off x="672353" y="158719"/>
            <a:ext cx="9902125" cy="1200329"/>
          </a:xfrm>
          <a:prstGeom prst="rect">
            <a:avLst/>
          </a:prstGeom>
          <a:noFill/>
        </p:spPr>
        <p:txBody>
          <a:bodyPr wrap="square" rtlCol="0">
            <a:spAutoFit/>
          </a:bodyPr>
          <a:lstStyle/>
          <a:p>
            <a:pPr algn="ctr"/>
            <a:r>
              <a:rPr lang="en-US" sz="2400" b="1" i="0" u="none" strike="noStrike" baseline="0" dirty="0">
                <a:latin typeface="Arial" panose="020B0604020202020204" pitchFamily="34" charset="0"/>
                <a:cs typeface="Arial" panose="020B0604020202020204" pitchFamily="34" charset="0"/>
              </a:rPr>
              <a:t> Explicit forms</a:t>
            </a:r>
          </a:p>
          <a:p>
            <a:pPr algn="ctr"/>
            <a:r>
              <a:rPr lang="en-US" sz="2400" b="1" dirty="0">
                <a:latin typeface="Arial" panose="020B0604020202020204" pitchFamily="34" charset="0"/>
                <a:cs typeface="Arial" panose="020B0604020202020204" pitchFamily="34" charset="0"/>
              </a:rPr>
              <a:t>Traced from 3-D </a:t>
            </a:r>
            <a:r>
              <a:rPr lang="en-US" sz="2400" b="1" dirty="0" err="1">
                <a:latin typeface="Arial" panose="020B0604020202020204" pitchFamily="34" charset="0"/>
                <a:cs typeface="Arial" panose="020B0604020202020204" pitchFamily="34" charset="0"/>
              </a:rPr>
              <a:t>CartesianTaylor</a:t>
            </a:r>
            <a:r>
              <a:rPr lang="en-US" sz="2400" b="1" dirty="0">
                <a:latin typeface="Arial" panose="020B0604020202020204" pitchFamily="34" charset="0"/>
                <a:cs typeface="Arial" panose="020B0604020202020204" pitchFamily="34" charset="0"/>
              </a:rPr>
              <a:t> series</a:t>
            </a:r>
          </a:p>
          <a:p>
            <a:pPr algn="ctr"/>
            <a:r>
              <a:rPr lang="en-US" sz="2400" b="1" dirty="0">
                <a:latin typeface="Arial" panose="020B0604020202020204" pitchFamily="34" charset="0"/>
                <a:cs typeface="Arial" panose="020B0604020202020204" pitchFamily="34" charset="0"/>
              </a:rPr>
              <a:t>Traceless from Coulomb potential as a spherical harmonic sum</a:t>
            </a:r>
            <a:endParaRPr lang="en-US" sz="2400" b="1" i="0" u="none" strike="noStrike" baseline="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29F0C90-6344-4EBA-B79A-57BBF76A981D}"/>
              </a:ext>
            </a:extLst>
          </p:cNvPr>
          <p:cNvSpPr txBox="1"/>
          <p:nvPr/>
        </p:nvSpPr>
        <p:spPr>
          <a:xfrm>
            <a:off x="569576" y="1528479"/>
            <a:ext cx="3502241" cy="369332"/>
          </a:xfrm>
          <a:prstGeom prst="rect">
            <a:avLst/>
          </a:prstGeom>
          <a:noFill/>
        </p:spPr>
        <p:txBody>
          <a:bodyPr wrap="none" rtlCol="0">
            <a:spAutoFit/>
          </a:bodyPr>
          <a:lstStyle/>
          <a:p>
            <a:r>
              <a:rPr lang="en-US" b="1" dirty="0"/>
              <a:t>3-D Cartesian Taylor series (traced)</a:t>
            </a:r>
          </a:p>
        </p:txBody>
      </p:sp>
      <p:sp>
        <p:nvSpPr>
          <p:cNvPr id="6" name="TextBox 5">
            <a:extLst>
              <a:ext uri="{FF2B5EF4-FFF2-40B4-BE49-F238E27FC236}">
                <a16:creationId xmlns:a16="http://schemas.microsoft.com/office/drawing/2014/main" id="{D94321B5-4740-49C8-8B78-9CCE554D25CA}"/>
              </a:ext>
            </a:extLst>
          </p:cNvPr>
          <p:cNvSpPr txBox="1"/>
          <p:nvPr/>
        </p:nvSpPr>
        <p:spPr>
          <a:xfrm>
            <a:off x="6532883" y="1506448"/>
            <a:ext cx="5189113" cy="369332"/>
          </a:xfrm>
          <a:prstGeom prst="rect">
            <a:avLst/>
          </a:prstGeom>
          <a:noFill/>
        </p:spPr>
        <p:txBody>
          <a:bodyPr wrap="none" rtlCol="0">
            <a:spAutoFit/>
          </a:bodyPr>
          <a:lstStyle/>
          <a:p>
            <a:r>
              <a:rPr lang="en-US" b="1" dirty="0"/>
              <a:t>Coulomb potential in spherical harmonics (traceless)</a:t>
            </a:r>
          </a:p>
        </p:txBody>
      </p:sp>
      <p:graphicFrame>
        <p:nvGraphicFramePr>
          <p:cNvPr id="8" name="Object 7">
            <a:extLst>
              <a:ext uri="{FF2B5EF4-FFF2-40B4-BE49-F238E27FC236}">
                <a16:creationId xmlns:a16="http://schemas.microsoft.com/office/drawing/2014/main" id="{F44474D8-7D11-4ABD-9EE8-36D5BFB0A4E0}"/>
              </a:ext>
            </a:extLst>
          </p:cNvPr>
          <p:cNvGraphicFramePr>
            <a:graphicFrameLocks noChangeAspect="1"/>
          </p:cNvGraphicFramePr>
          <p:nvPr>
            <p:extLst>
              <p:ext uri="{D42A27DB-BD31-4B8C-83A1-F6EECF244321}">
                <p14:modId xmlns:p14="http://schemas.microsoft.com/office/powerpoint/2010/main" val="3892594565"/>
              </p:ext>
            </p:extLst>
          </p:nvPr>
        </p:nvGraphicFramePr>
        <p:xfrm>
          <a:off x="672353" y="1880930"/>
          <a:ext cx="2814310" cy="413745"/>
        </p:xfrm>
        <a:graphic>
          <a:graphicData uri="http://schemas.openxmlformats.org/presentationml/2006/ole">
            <mc:AlternateContent xmlns:mc="http://schemas.openxmlformats.org/markup-compatibility/2006">
              <mc:Choice xmlns:v="urn:schemas-microsoft-com:vml" Requires="v">
                <p:oleObj spid="_x0000_s1331" name="Equation" r:id="rId3" imgW="1726920" imgH="253800" progId="Equation.DSMT4">
                  <p:embed/>
                </p:oleObj>
              </mc:Choice>
              <mc:Fallback>
                <p:oleObj name="Equation" r:id="rId3" imgW="1726920" imgH="253800" progId="Equation.DSMT4">
                  <p:embed/>
                  <p:pic>
                    <p:nvPicPr>
                      <p:cNvPr id="0" name=""/>
                      <p:cNvPicPr/>
                      <p:nvPr/>
                    </p:nvPicPr>
                    <p:blipFill>
                      <a:blip r:embed="rId4"/>
                      <a:stretch>
                        <a:fillRect/>
                      </a:stretch>
                    </p:blipFill>
                    <p:spPr>
                      <a:xfrm>
                        <a:off x="672353" y="1880930"/>
                        <a:ext cx="2814310" cy="413745"/>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25E49744-8DFF-4ADB-B872-6A7466ECF782}"/>
              </a:ext>
            </a:extLst>
          </p:cNvPr>
          <p:cNvGraphicFramePr>
            <a:graphicFrameLocks noChangeAspect="1"/>
          </p:cNvGraphicFramePr>
          <p:nvPr>
            <p:extLst>
              <p:ext uri="{D42A27DB-BD31-4B8C-83A1-F6EECF244321}">
                <p14:modId xmlns:p14="http://schemas.microsoft.com/office/powerpoint/2010/main" val="1614388407"/>
              </p:ext>
            </p:extLst>
          </p:nvPr>
        </p:nvGraphicFramePr>
        <p:xfrm>
          <a:off x="6736556" y="3676359"/>
          <a:ext cx="4214040" cy="824486"/>
        </p:xfrm>
        <a:graphic>
          <a:graphicData uri="http://schemas.openxmlformats.org/presentationml/2006/ole">
            <mc:AlternateContent xmlns:mc="http://schemas.openxmlformats.org/markup-compatibility/2006">
              <mc:Choice xmlns:v="urn:schemas-microsoft-com:vml" Requires="v">
                <p:oleObj spid="_x0000_s1332" name="Equation" r:id="rId5" imgW="2920680" imgH="571320" progId="Equation.DSMT4">
                  <p:embed/>
                </p:oleObj>
              </mc:Choice>
              <mc:Fallback>
                <p:oleObj name="Equation" r:id="rId5" imgW="2920680" imgH="571320" progId="Equation.DSMT4">
                  <p:embed/>
                  <p:pic>
                    <p:nvPicPr>
                      <p:cNvPr id="0" name=""/>
                      <p:cNvPicPr/>
                      <p:nvPr/>
                    </p:nvPicPr>
                    <p:blipFill>
                      <a:blip r:embed="rId6"/>
                      <a:stretch>
                        <a:fillRect/>
                      </a:stretch>
                    </p:blipFill>
                    <p:spPr>
                      <a:xfrm>
                        <a:off x="6736556" y="3676359"/>
                        <a:ext cx="4214040" cy="824486"/>
                      </a:xfrm>
                      <a:prstGeom prst="rect">
                        <a:avLst/>
                      </a:prstGeom>
                      <a:ln w="12700">
                        <a:solidFill>
                          <a:schemeClr val="accent5">
                            <a:lumMod val="50000"/>
                          </a:schemeClr>
                        </a:solidFill>
                      </a:ln>
                    </p:spPr>
                  </p:pic>
                </p:oleObj>
              </mc:Fallback>
            </mc:AlternateContent>
          </a:graphicData>
        </a:graphic>
      </p:graphicFrame>
      <p:graphicFrame>
        <p:nvGraphicFramePr>
          <p:cNvPr id="9" name="Object 8">
            <a:extLst>
              <a:ext uri="{FF2B5EF4-FFF2-40B4-BE49-F238E27FC236}">
                <a16:creationId xmlns:a16="http://schemas.microsoft.com/office/drawing/2014/main" id="{7BFBC557-14A2-4F0D-A28B-6915E1A67C9D}"/>
              </a:ext>
            </a:extLst>
          </p:cNvPr>
          <p:cNvGraphicFramePr>
            <a:graphicFrameLocks noChangeAspect="1"/>
          </p:cNvGraphicFramePr>
          <p:nvPr>
            <p:extLst>
              <p:ext uri="{D42A27DB-BD31-4B8C-83A1-F6EECF244321}">
                <p14:modId xmlns:p14="http://schemas.microsoft.com/office/powerpoint/2010/main" val="192001894"/>
              </p:ext>
            </p:extLst>
          </p:nvPr>
        </p:nvGraphicFramePr>
        <p:xfrm>
          <a:off x="329517" y="3703850"/>
          <a:ext cx="5878903" cy="745513"/>
        </p:xfrm>
        <a:graphic>
          <a:graphicData uri="http://schemas.openxmlformats.org/presentationml/2006/ole">
            <mc:AlternateContent xmlns:mc="http://schemas.openxmlformats.org/markup-compatibility/2006">
              <mc:Choice xmlns:v="urn:schemas-microsoft-com:vml" Requires="v">
                <p:oleObj spid="_x0000_s1333" name="Equation" r:id="rId7" imgW="3504960" imgH="444240" progId="Equation.DSMT4">
                  <p:embed/>
                </p:oleObj>
              </mc:Choice>
              <mc:Fallback>
                <p:oleObj name="Equation" r:id="rId7" imgW="3504960" imgH="444240" progId="Equation.DSMT4">
                  <p:embed/>
                  <p:pic>
                    <p:nvPicPr>
                      <p:cNvPr id="0" name=""/>
                      <p:cNvPicPr/>
                      <p:nvPr/>
                    </p:nvPicPr>
                    <p:blipFill>
                      <a:blip r:embed="rId8"/>
                      <a:stretch>
                        <a:fillRect/>
                      </a:stretch>
                    </p:blipFill>
                    <p:spPr>
                      <a:xfrm>
                        <a:off x="329517" y="3703850"/>
                        <a:ext cx="5878903" cy="745513"/>
                      </a:xfrm>
                      <a:prstGeom prst="rect">
                        <a:avLst/>
                      </a:prstGeom>
                      <a:ln w="12700">
                        <a:solidFill>
                          <a:schemeClr val="accent5">
                            <a:lumMod val="50000"/>
                          </a:schemeClr>
                        </a:solidFill>
                      </a:ln>
                    </p:spPr>
                  </p:pic>
                </p:oleObj>
              </mc:Fallback>
            </mc:AlternateContent>
          </a:graphicData>
        </a:graphic>
      </p:graphicFrame>
      <p:graphicFrame>
        <p:nvGraphicFramePr>
          <p:cNvPr id="10" name="Object 9">
            <a:extLst>
              <a:ext uri="{FF2B5EF4-FFF2-40B4-BE49-F238E27FC236}">
                <a16:creationId xmlns:a16="http://schemas.microsoft.com/office/drawing/2014/main" id="{D35BC37C-06BF-4BE9-B303-095E79BFD539}"/>
              </a:ext>
            </a:extLst>
          </p:cNvPr>
          <p:cNvGraphicFramePr>
            <a:graphicFrameLocks noChangeAspect="1"/>
          </p:cNvGraphicFramePr>
          <p:nvPr>
            <p:extLst>
              <p:ext uri="{D42A27DB-BD31-4B8C-83A1-F6EECF244321}">
                <p14:modId xmlns:p14="http://schemas.microsoft.com/office/powerpoint/2010/main" val="1605751599"/>
              </p:ext>
            </p:extLst>
          </p:nvPr>
        </p:nvGraphicFramePr>
        <p:xfrm>
          <a:off x="6736556" y="2754885"/>
          <a:ext cx="3531176" cy="665562"/>
        </p:xfrm>
        <a:graphic>
          <a:graphicData uri="http://schemas.openxmlformats.org/presentationml/2006/ole">
            <mc:AlternateContent xmlns:mc="http://schemas.openxmlformats.org/markup-compatibility/2006">
              <mc:Choice xmlns:v="urn:schemas-microsoft-com:vml" Requires="v">
                <p:oleObj spid="_x0000_s1334" name="Equation" r:id="rId9" imgW="2425680" imgH="457200" progId="Equation.DSMT4">
                  <p:embed/>
                </p:oleObj>
              </mc:Choice>
              <mc:Fallback>
                <p:oleObj name="Equation" r:id="rId9" imgW="2425680" imgH="457200" progId="Equation.DSMT4">
                  <p:embed/>
                  <p:pic>
                    <p:nvPicPr>
                      <p:cNvPr id="0" name=""/>
                      <p:cNvPicPr/>
                      <p:nvPr/>
                    </p:nvPicPr>
                    <p:blipFill>
                      <a:blip r:embed="rId10"/>
                      <a:stretch>
                        <a:fillRect/>
                      </a:stretch>
                    </p:blipFill>
                    <p:spPr>
                      <a:xfrm>
                        <a:off x="6736556" y="2754885"/>
                        <a:ext cx="3531176" cy="665562"/>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41507441-4A1D-4FB3-B62C-6423645C82AB}"/>
              </a:ext>
            </a:extLst>
          </p:cNvPr>
          <p:cNvGraphicFramePr>
            <a:graphicFrameLocks noChangeAspect="1"/>
          </p:cNvGraphicFramePr>
          <p:nvPr>
            <p:extLst>
              <p:ext uri="{D42A27DB-BD31-4B8C-83A1-F6EECF244321}">
                <p14:modId xmlns:p14="http://schemas.microsoft.com/office/powerpoint/2010/main" val="4072602717"/>
              </p:ext>
            </p:extLst>
          </p:nvPr>
        </p:nvGraphicFramePr>
        <p:xfrm>
          <a:off x="7081010" y="1901401"/>
          <a:ext cx="2971800" cy="492125"/>
        </p:xfrm>
        <a:graphic>
          <a:graphicData uri="http://schemas.openxmlformats.org/presentationml/2006/ole">
            <mc:AlternateContent xmlns:mc="http://schemas.openxmlformats.org/markup-compatibility/2006">
              <mc:Choice xmlns:v="urn:schemas-microsoft-com:vml" Requires="v">
                <p:oleObj spid="_x0000_s1335" name="Equation" r:id="rId11" imgW="2679480" imgH="444240" progId="Equation.DSMT4">
                  <p:embed/>
                </p:oleObj>
              </mc:Choice>
              <mc:Fallback>
                <p:oleObj name="Equation" r:id="rId11" imgW="2679480" imgH="444240" progId="Equation.DSMT4">
                  <p:embed/>
                  <p:pic>
                    <p:nvPicPr>
                      <p:cNvPr id="0" name=""/>
                      <p:cNvPicPr/>
                      <p:nvPr/>
                    </p:nvPicPr>
                    <p:blipFill>
                      <a:blip r:embed="rId12"/>
                      <a:stretch>
                        <a:fillRect/>
                      </a:stretch>
                    </p:blipFill>
                    <p:spPr>
                      <a:xfrm>
                        <a:off x="7081010" y="1901401"/>
                        <a:ext cx="2971800" cy="492125"/>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460A114F-1184-4359-8CE3-2ADFB95A0A65}"/>
              </a:ext>
            </a:extLst>
          </p:cNvPr>
          <p:cNvGraphicFramePr>
            <a:graphicFrameLocks noChangeAspect="1"/>
          </p:cNvGraphicFramePr>
          <p:nvPr>
            <p:extLst>
              <p:ext uri="{D42A27DB-BD31-4B8C-83A1-F6EECF244321}">
                <p14:modId xmlns:p14="http://schemas.microsoft.com/office/powerpoint/2010/main" val="2669935408"/>
              </p:ext>
            </p:extLst>
          </p:nvPr>
        </p:nvGraphicFramePr>
        <p:xfrm>
          <a:off x="4291649" y="1775549"/>
          <a:ext cx="1984375" cy="571500"/>
        </p:xfrm>
        <a:graphic>
          <a:graphicData uri="http://schemas.openxmlformats.org/presentationml/2006/ole">
            <mc:AlternateContent xmlns:mc="http://schemas.openxmlformats.org/markup-compatibility/2006">
              <mc:Choice xmlns:v="urn:schemas-microsoft-com:vml" Requires="v">
                <p:oleObj spid="_x0000_s1336" name="Equation" r:id="rId13" imgW="1587240" imgH="457200" progId="Equation.DSMT4">
                  <p:embed/>
                </p:oleObj>
              </mc:Choice>
              <mc:Fallback>
                <p:oleObj name="Equation" r:id="rId13" imgW="1587240" imgH="457200" progId="Equation.DSMT4">
                  <p:embed/>
                  <p:pic>
                    <p:nvPicPr>
                      <p:cNvPr id="0" name=""/>
                      <p:cNvPicPr/>
                      <p:nvPr/>
                    </p:nvPicPr>
                    <p:blipFill>
                      <a:blip r:embed="rId14"/>
                      <a:stretch>
                        <a:fillRect/>
                      </a:stretch>
                    </p:blipFill>
                    <p:spPr>
                      <a:xfrm>
                        <a:off x="4291649" y="1775549"/>
                        <a:ext cx="1984375" cy="571500"/>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A7002DF9-FAEA-4687-A9BC-0763E82EE51C}"/>
              </a:ext>
            </a:extLst>
          </p:cNvPr>
          <p:cNvGraphicFramePr>
            <a:graphicFrameLocks noChangeAspect="1"/>
          </p:cNvGraphicFramePr>
          <p:nvPr>
            <p:extLst>
              <p:ext uri="{D42A27DB-BD31-4B8C-83A1-F6EECF244321}">
                <p14:modId xmlns:p14="http://schemas.microsoft.com/office/powerpoint/2010/main" val="467249782"/>
              </p:ext>
            </p:extLst>
          </p:nvPr>
        </p:nvGraphicFramePr>
        <p:xfrm>
          <a:off x="317426" y="2754885"/>
          <a:ext cx="3092906" cy="665562"/>
        </p:xfrm>
        <a:graphic>
          <a:graphicData uri="http://schemas.openxmlformats.org/presentationml/2006/ole">
            <mc:AlternateContent xmlns:mc="http://schemas.openxmlformats.org/markup-compatibility/2006">
              <mc:Choice xmlns:v="urn:schemas-microsoft-com:vml" Requires="v">
                <p:oleObj spid="_x0000_s1337" name="Equation" r:id="rId15" imgW="2006280" imgH="431640" progId="Equation.DSMT4">
                  <p:embed/>
                </p:oleObj>
              </mc:Choice>
              <mc:Fallback>
                <p:oleObj name="Equation" r:id="rId15" imgW="2006280" imgH="431640" progId="Equation.DSMT4">
                  <p:embed/>
                  <p:pic>
                    <p:nvPicPr>
                      <p:cNvPr id="0" name=""/>
                      <p:cNvPicPr/>
                      <p:nvPr/>
                    </p:nvPicPr>
                    <p:blipFill>
                      <a:blip r:embed="rId16"/>
                      <a:stretch>
                        <a:fillRect/>
                      </a:stretch>
                    </p:blipFill>
                    <p:spPr>
                      <a:xfrm>
                        <a:off x="317426" y="2754885"/>
                        <a:ext cx="3092906" cy="665562"/>
                      </a:xfrm>
                      <a:prstGeom prst="rect">
                        <a:avLst/>
                      </a:prstGeom>
                    </p:spPr>
                  </p:pic>
                </p:oleObj>
              </mc:Fallback>
            </mc:AlternateContent>
          </a:graphicData>
        </a:graphic>
      </p:graphicFrame>
      <p:sp>
        <p:nvSpPr>
          <p:cNvPr id="16" name="TextBox 15">
            <a:extLst>
              <a:ext uri="{FF2B5EF4-FFF2-40B4-BE49-F238E27FC236}">
                <a16:creationId xmlns:a16="http://schemas.microsoft.com/office/drawing/2014/main" id="{2817B1A6-EB95-4306-ADA2-6D1EB9E1272C}"/>
              </a:ext>
            </a:extLst>
          </p:cNvPr>
          <p:cNvSpPr txBox="1"/>
          <p:nvPr/>
        </p:nvSpPr>
        <p:spPr>
          <a:xfrm>
            <a:off x="2794866" y="2393526"/>
            <a:ext cx="5458802" cy="369332"/>
          </a:xfrm>
          <a:prstGeom prst="rect">
            <a:avLst/>
          </a:prstGeom>
          <a:noFill/>
        </p:spPr>
        <p:txBody>
          <a:bodyPr wrap="none" rtlCol="0">
            <a:spAutoFit/>
          </a:bodyPr>
          <a:lstStyle/>
          <a:p>
            <a:r>
              <a:rPr lang="en-US" b="1" dirty="0"/>
              <a:t>Traced and Traceless Potential  in Cartesian coordinates</a:t>
            </a:r>
          </a:p>
        </p:txBody>
      </p:sp>
      <p:sp>
        <p:nvSpPr>
          <p:cNvPr id="18" name="TextBox 17">
            <a:extLst>
              <a:ext uri="{FF2B5EF4-FFF2-40B4-BE49-F238E27FC236}">
                <a16:creationId xmlns:a16="http://schemas.microsoft.com/office/drawing/2014/main" id="{0ECE4D0E-27C3-4E35-9C26-49A45A53B6BD}"/>
              </a:ext>
            </a:extLst>
          </p:cNvPr>
          <p:cNvSpPr txBox="1"/>
          <p:nvPr/>
        </p:nvSpPr>
        <p:spPr>
          <a:xfrm>
            <a:off x="3237402" y="3250237"/>
            <a:ext cx="3917611" cy="646331"/>
          </a:xfrm>
          <a:prstGeom prst="rect">
            <a:avLst/>
          </a:prstGeom>
          <a:noFill/>
        </p:spPr>
        <p:txBody>
          <a:bodyPr wrap="none" rtlCol="0">
            <a:spAutoFit/>
          </a:bodyPr>
          <a:lstStyle/>
          <a:p>
            <a:r>
              <a:rPr lang="en-US" b="1" dirty="0"/>
              <a:t>Multipliers differ --  1/n! and 1/(2n-1)!!</a:t>
            </a:r>
          </a:p>
          <a:p>
            <a:endParaRPr lang="en-US" b="1" dirty="0"/>
          </a:p>
        </p:txBody>
      </p:sp>
      <p:sp>
        <p:nvSpPr>
          <p:cNvPr id="19" name="TextBox 18">
            <a:extLst>
              <a:ext uri="{FF2B5EF4-FFF2-40B4-BE49-F238E27FC236}">
                <a16:creationId xmlns:a16="http://schemas.microsoft.com/office/drawing/2014/main" id="{FE1DC15C-1BB6-40D0-92D5-60500378A64C}"/>
              </a:ext>
            </a:extLst>
          </p:cNvPr>
          <p:cNvSpPr txBox="1"/>
          <p:nvPr/>
        </p:nvSpPr>
        <p:spPr>
          <a:xfrm>
            <a:off x="3793620" y="4533644"/>
            <a:ext cx="4790286" cy="369332"/>
          </a:xfrm>
          <a:prstGeom prst="rect">
            <a:avLst/>
          </a:prstGeom>
          <a:noFill/>
        </p:spPr>
        <p:txBody>
          <a:bodyPr wrap="none" rtlCol="0">
            <a:spAutoFit/>
          </a:bodyPr>
          <a:lstStyle/>
          <a:p>
            <a:r>
              <a:rPr lang="en-US" b="1"/>
              <a:t>Inner boxed </a:t>
            </a:r>
            <a:r>
              <a:rPr lang="en-US" b="1" dirty="0"/>
              <a:t>forms are functions of angles only.</a:t>
            </a:r>
          </a:p>
        </p:txBody>
      </p:sp>
      <p:sp>
        <p:nvSpPr>
          <p:cNvPr id="21" name="TextBox 20">
            <a:extLst>
              <a:ext uri="{FF2B5EF4-FFF2-40B4-BE49-F238E27FC236}">
                <a16:creationId xmlns:a16="http://schemas.microsoft.com/office/drawing/2014/main" id="{E87A7E2C-288D-4046-81DF-4A23F809D8D8}"/>
              </a:ext>
            </a:extLst>
          </p:cNvPr>
          <p:cNvSpPr txBox="1"/>
          <p:nvPr/>
        </p:nvSpPr>
        <p:spPr>
          <a:xfrm>
            <a:off x="7313380" y="5017987"/>
            <a:ext cx="3637216" cy="923330"/>
          </a:xfrm>
          <a:prstGeom prst="rect">
            <a:avLst/>
          </a:prstGeom>
          <a:noFill/>
        </p:spPr>
        <p:txBody>
          <a:bodyPr wrap="square" rtlCol="0">
            <a:spAutoFit/>
          </a:bodyPr>
          <a:lstStyle/>
          <a:p>
            <a:r>
              <a:rPr lang="en-US" b="1" dirty="0"/>
              <a:t>The xi moments (</a:t>
            </a:r>
            <a:r>
              <a:rPr lang="el-GR" b="1" dirty="0"/>
              <a:t>ξ</a:t>
            </a:r>
            <a:r>
              <a:rPr lang="en-US" b="1" dirty="0"/>
              <a:t>) are traceless over any repeated subscripts. They satisfy the Laplace equation.</a:t>
            </a:r>
          </a:p>
        </p:txBody>
      </p:sp>
      <p:sp>
        <p:nvSpPr>
          <p:cNvPr id="22" name="TextBox 21">
            <a:extLst>
              <a:ext uri="{FF2B5EF4-FFF2-40B4-BE49-F238E27FC236}">
                <a16:creationId xmlns:a16="http://schemas.microsoft.com/office/drawing/2014/main" id="{AE741587-1350-45EF-BCF0-C6938D2802BA}"/>
              </a:ext>
            </a:extLst>
          </p:cNvPr>
          <p:cNvSpPr txBox="1"/>
          <p:nvPr/>
        </p:nvSpPr>
        <p:spPr>
          <a:xfrm>
            <a:off x="1713948" y="5027279"/>
            <a:ext cx="3909467" cy="923330"/>
          </a:xfrm>
          <a:prstGeom prst="rect">
            <a:avLst/>
          </a:prstGeom>
          <a:noFill/>
        </p:spPr>
        <p:txBody>
          <a:bodyPr wrap="square" rtlCol="0">
            <a:spAutoFit/>
          </a:bodyPr>
          <a:lstStyle/>
          <a:p>
            <a:r>
              <a:rPr lang="en-US" b="1" dirty="0"/>
              <a:t>The zeta moments (</a:t>
            </a:r>
            <a:r>
              <a:rPr lang="el-GR" b="1" dirty="0"/>
              <a:t>ς</a:t>
            </a:r>
            <a:r>
              <a:rPr lang="en-US" b="1" dirty="0"/>
              <a:t>) are “primitive” or “traced” or “standard.” (Some octupole terms: x</a:t>
            </a:r>
            <a:r>
              <a:rPr lang="en-US" b="1" baseline="30000" dirty="0"/>
              <a:t>3</a:t>
            </a:r>
            <a:r>
              <a:rPr lang="en-US" b="1" dirty="0"/>
              <a:t>,x</a:t>
            </a:r>
            <a:r>
              <a:rPr lang="en-US" b="1" baseline="30000" dirty="0"/>
              <a:t>2</a:t>
            </a:r>
            <a:r>
              <a:rPr lang="en-US" b="1" dirty="0"/>
              <a:t>y, y</a:t>
            </a:r>
            <a:r>
              <a:rPr lang="en-US" b="1" baseline="30000" dirty="0"/>
              <a:t>2</a:t>
            </a:r>
            <a:r>
              <a:rPr lang="en-US" b="1" dirty="0"/>
              <a:t>z etc.)</a:t>
            </a:r>
          </a:p>
        </p:txBody>
      </p:sp>
    </p:spTree>
    <p:extLst>
      <p:ext uri="{BB962C8B-B14F-4D97-AF65-F5344CB8AC3E}">
        <p14:creationId xmlns:p14="http://schemas.microsoft.com/office/powerpoint/2010/main" val="3320986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1D6E38D-08D0-404F-9E15-D1E4A7F620C7}"/>
              </a:ext>
            </a:extLst>
          </p:cNvPr>
          <p:cNvSpPr>
            <a:spLocks noGrp="1"/>
          </p:cNvSpPr>
          <p:nvPr>
            <p:ph type="ftr" sz="quarter" idx="11"/>
          </p:nvPr>
        </p:nvSpPr>
        <p:spPr/>
        <p:txBody>
          <a:bodyPr/>
          <a:lstStyle/>
          <a:p>
            <a:r>
              <a:rPr lang="en-US"/>
              <a:t>ISMS 2024 Coy, FieldComp Chemand Effective pPotentials</a:t>
            </a:r>
          </a:p>
        </p:txBody>
      </p:sp>
      <p:sp>
        <p:nvSpPr>
          <p:cNvPr id="3" name="Slide Number Placeholder 2">
            <a:extLst>
              <a:ext uri="{FF2B5EF4-FFF2-40B4-BE49-F238E27FC236}">
                <a16:creationId xmlns:a16="http://schemas.microsoft.com/office/drawing/2014/main" id="{8C926A0A-6295-4153-BEC6-AD20A1EC867F}"/>
              </a:ext>
            </a:extLst>
          </p:cNvPr>
          <p:cNvSpPr>
            <a:spLocks noGrp="1"/>
          </p:cNvSpPr>
          <p:nvPr>
            <p:ph type="sldNum" sz="quarter" idx="12"/>
          </p:nvPr>
        </p:nvSpPr>
        <p:spPr/>
        <p:txBody>
          <a:bodyPr/>
          <a:lstStyle/>
          <a:p>
            <a:fld id="{4100E85D-C03B-4CB7-A13D-94C0497B8BAA}" type="slidenum">
              <a:rPr lang="en-US" smtClean="0"/>
              <a:t>7</a:t>
            </a:fld>
            <a:endParaRPr lang="en-US"/>
          </a:p>
        </p:txBody>
      </p:sp>
      <p:grpSp>
        <p:nvGrpSpPr>
          <p:cNvPr id="4" name="Group 3">
            <a:extLst>
              <a:ext uri="{FF2B5EF4-FFF2-40B4-BE49-F238E27FC236}">
                <a16:creationId xmlns:a16="http://schemas.microsoft.com/office/drawing/2014/main" id="{2BD15BF3-EF58-4DAB-94DD-28B779F71F31}"/>
              </a:ext>
            </a:extLst>
          </p:cNvPr>
          <p:cNvGrpSpPr>
            <a:grpSpLocks noChangeAspect="1"/>
          </p:cNvGrpSpPr>
          <p:nvPr/>
        </p:nvGrpSpPr>
        <p:grpSpPr>
          <a:xfrm>
            <a:off x="861935" y="2184110"/>
            <a:ext cx="4572000" cy="3179327"/>
            <a:chOff x="0" y="249673"/>
            <a:chExt cx="9144000" cy="6358654"/>
          </a:xfrm>
        </p:grpSpPr>
        <p:pic>
          <p:nvPicPr>
            <p:cNvPr id="5" name="Picture 2" descr="C:\Users\Public\Dropbox\AA\wv\CaFJJK0910131311\BryanWong\CaFcalcs\DensityFigures\ddv4A.bmp">
              <a:extLst>
                <a:ext uri="{FF2B5EF4-FFF2-40B4-BE49-F238E27FC236}">
                  <a16:creationId xmlns:a16="http://schemas.microsoft.com/office/drawing/2014/main" id="{9D747F62-E9ED-48CB-AE85-0A1F6762451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249673"/>
              <a:ext cx="9144000" cy="635865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C:\Users\Public\Dropbox\AA\wv\CaFJJK0910131311\BryanWong\PaperI\1B\OrbitalsSDmix-d.jpg">
              <a:extLst>
                <a:ext uri="{FF2B5EF4-FFF2-40B4-BE49-F238E27FC236}">
                  <a16:creationId xmlns:a16="http://schemas.microsoft.com/office/drawing/2014/main" id="{157A1F64-EE25-442B-B8CC-7DB95DC81E0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28800" y="249673"/>
              <a:ext cx="2377440" cy="111294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89965EC-8B4D-4EB0-BEA7-C090FBB0D10D}"/>
                </a:ext>
              </a:extLst>
            </p:cNvPr>
            <p:cNvSpPr txBox="1"/>
            <p:nvPr/>
          </p:nvSpPr>
          <p:spPr>
            <a:xfrm>
              <a:off x="609600" y="402073"/>
              <a:ext cx="1209306" cy="800220"/>
            </a:xfrm>
            <a:prstGeom prst="rect">
              <a:avLst/>
            </a:prstGeom>
            <a:noFill/>
          </p:spPr>
          <p:txBody>
            <a:bodyPr wrap="none" rtlCol="0">
              <a:spAutoFit/>
            </a:bodyPr>
            <a:lstStyle/>
            <a:p>
              <a:r>
                <a:rPr lang="en-US" sz="2000" dirty="0" err="1">
                  <a:latin typeface="Arial" panose="020B0604020202020204" pitchFamily="34" charset="0"/>
                  <a:cs typeface="Arial" panose="020B0604020202020204" pitchFamily="34" charset="0"/>
                </a:rPr>
                <a:t>s+d</a:t>
              </a:r>
              <a:endParaRPr lang="en-US" sz="3200" dirty="0">
                <a:latin typeface="Arial" panose="020B0604020202020204" pitchFamily="34" charset="0"/>
                <a:cs typeface="Arial" panose="020B0604020202020204" pitchFamily="34" charset="0"/>
              </a:endParaRPr>
            </a:p>
          </p:txBody>
        </p:sp>
      </p:grpSp>
      <p:pic>
        <p:nvPicPr>
          <p:cNvPr id="8" name="Picture 7">
            <a:extLst>
              <a:ext uri="{FF2B5EF4-FFF2-40B4-BE49-F238E27FC236}">
                <a16:creationId xmlns:a16="http://schemas.microsoft.com/office/drawing/2014/main" id="{5F08C2E9-328B-4165-8546-54CCCD7970B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10296" y="972310"/>
            <a:ext cx="4572000" cy="3764225"/>
          </a:xfrm>
          <a:prstGeom prst="rect">
            <a:avLst/>
          </a:prstGeom>
        </p:spPr>
      </p:pic>
      <p:sp>
        <p:nvSpPr>
          <p:cNvPr id="9" name="TextBox 8">
            <a:extLst>
              <a:ext uri="{FF2B5EF4-FFF2-40B4-BE49-F238E27FC236}">
                <a16:creationId xmlns:a16="http://schemas.microsoft.com/office/drawing/2014/main" id="{0E11B4B9-445D-45BC-9EC5-0C299005997E}"/>
              </a:ext>
            </a:extLst>
          </p:cNvPr>
          <p:cNvSpPr txBox="1"/>
          <p:nvPr/>
        </p:nvSpPr>
        <p:spPr>
          <a:xfrm>
            <a:off x="7505580" y="4842951"/>
            <a:ext cx="3227294" cy="646331"/>
          </a:xfrm>
          <a:prstGeom prst="rect">
            <a:avLst/>
          </a:prstGeom>
          <a:noFill/>
        </p:spPr>
        <p:txBody>
          <a:bodyPr wrap="square" rtlCol="0">
            <a:spAutoFit/>
          </a:bodyPr>
          <a:lstStyle/>
          <a:p>
            <a:r>
              <a:rPr lang="en-US" dirty="0"/>
              <a:t>Using a Ca+ quadrupole </a:t>
            </a:r>
            <a:r>
              <a:rPr lang="en-US" dirty="0" err="1"/>
              <a:t>pby</a:t>
            </a:r>
            <a:r>
              <a:rPr lang="en-US" dirty="0"/>
              <a:t> can match the </a:t>
            </a:r>
            <a:r>
              <a:rPr lang="en-US" dirty="0" err="1"/>
              <a:t>hexadecapole</a:t>
            </a:r>
            <a:r>
              <a:rPr lang="en-US" dirty="0"/>
              <a:t>! </a:t>
            </a:r>
          </a:p>
        </p:txBody>
      </p:sp>
      <p:sp>
        <p:nvSpPr>
          <p:cNvPr id="14" name="TextBox 13">
            <a:extLst>
              <a:ext uri="{FF2B5EF4-FFF2-40B4-BE49-F238E27FC236}">
                <a16:creationId xmlns:a16="http://schemas.microsoft.com/office/drawing/2014/main" id="{C0503C8D-26A3-40A4-8672-84BDB7620753}"/>
              </a:ext>
            </a:extLst>
          </p:cNvPr>
          <p:cNvSpPr txBox="1"/>
          <p:nvPr/>
        </p:nvSpPr>
        <p:spPr>
          <a:xfrm>
            <a:off x="672353" y="143729"/>
            <a:ext cx="9902125" cy="830997"/>
          </a:xfrm>
          <a:prstGeom prst="rect">
            <a:avLst/>
          </a:prstGeom>
          <a:noFill/>
        </p:spPr>
        <p:txBody>
          <a:bodyPr wrap="square" rtlCol="0">
            <a:spAutoFit/>
          </a:bodyPr>
          <a:lstStyle/>
          <a:p>
            <a:pPr algn="ctr"/>
            <a:r>
              <a:rPr lang="en-US" sz="2400" b="1" i="0" u="none" strike="noStrike" baseline="0" dirty="0">
                <a:latin typeface="Arial" panose="020B0604020202020204" pitchFamily="34" charset="0"/>
                <a:cs typeface="Arial" panose="020B0604020202020204" pitchFamily="34" charset="0"/>
              </a:rPr>
              <a:t>Example of the use of higher moments</a:t>
            </a:r>
          </a:p>
          <a:p>
            <a:pPr algn="ctr"/>
            <a:r>
              <a:rPr lang="en-US" sz="2400" b="1" dirty="0">
                <a:latin typeface="Arial" panose="020B0604020202020204" pitchFamily="34" charset="0"/>
                <a:cs typeface="Arial" panose="020B0604020202020204" pitchFamily="34" charset="0"/>
              </a:rPr>
              <a:t>The L=4 moment requires quadrupole Ca polarization in </a:t>
            </a:r>
            <a:r>
              <a:rPr lang="en-US" sz="2400" b="1" dirty="0" err="1">
                <a:latin typeface="Arial" panose="020B0604020202020204" pitchFamily="34" charset="0"/>
                <a:cs typeface="Arial" panose="020B0604020202020204" pitchFamily="34" charset="0"/>
              </a:rPr>
              <a:t>CaF</a:t>
            </a:r>
            <a:r>
              <a:rPr lang="en-US" sz="2400" b="1" dirty="0">
                <a:latin typeface="Arial" panose="020B0604020202020204" pitchFamily="34" charset="0"/>
                <a:cs typeface="Arial" panose="020B0604020202020204" pitchFamily="34" charset="0"/>
              </a:rPr>
              <a:t>+</a:t>
            </a:r>
            <a:endParaRPr lang="en-US" sz="2400" b="1" i="0" u="none" strike="noStrike" baseline="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AE98D702-BAF8-4F4F-AF71-335F8A5CAE97}"/>
              </a:ext>
            </a:extLst>
          </p:cNvPr>
          <p:cNvSpPr txBox="1"/>
          <p:nvPr/>
        </p:nvSpPr>
        <p:spPr>
          <a:xfrm>
            <a:off x="1184223" y="1265967"/>
            <a:ext cx="5236562" cy="923330"/>
          </a:xfrm>
          <a:prstGeom prst="rect">
            <a:avLst/>
          </a:prstGeom>
          <a:noFill/>
        </p:spPr>
        <p:txBody>
          <a:bodyPr wrap="none" rtlCol="0">
            <a:spAutoFit/>
          </a:bodyPr>
          <a:lstStyle/>
          <a:p>
            <a:r>
              <a:rPr lang="en-US" dirty="0"/>
              <a:t>Model matches out to the octupole with either dipole</a:t>
            </a:r>
          </a:p>
          <a:p>
            <a:r>
              <a:rPr lang="en-US" dirty="0"/>
              <a:t>or quadrupole on Ca. The Q4 requires Q2 on Ca. </a:t>
            </a:r>
          </a:p>
          <a:p>
            <a:r>
              <a:rPr lang="en-US" dirty="0"/>
              <a:t>The two lowest Ca+ states are s and d</a:t>
            </a:r>
          </a:p>
        </p:txBody>
      </p:sp>
      <p:sp>
        <p:nvSpPr>
          <p:cNvPr id="16" name="TextBox 15">
            <a:extLst>
              <a:ext uri="{FF2B5EF4-FFF2-40B4-BE49-F238E27FC236}">
                <a16:creationId xmlns:a16="http://schemas.microsoft.com/office/drawing/2014/main" id="{3B90E80C-BD1E-4B25-9ED7-C82000A6973B}"/>
              </a:ext>
            </a:extLst>
          </p:cNvPr>
          <p:cNvSpPr txBox="1"/>
          <p:nvPr/>
        </p:nvSpPr>
        <p:spPr>
          <a:xfrm>
            <a:off x="1166735" y="5816184"/>
            <a:ext cx="6760440" cy="369332"/>
          </a:xfrm>
          <a:prstGeom prst="rect">
            <a:avLst/>
          </a:prstGeom>
          <a:noFill/>
        </p:spPr>
        <p:txBody>
          <a:bodyPr wrap="none" rtlCol="0">
            <a:spAutoFit/>
          </a:bodyPr>
          <a:lstStyle/>
          <a:p>
            <a:r>
              <a:rPr lang="en-US" dirty="0"/>
              <a:t>This electron density difference was computed in Gaussian not CFOUR.</a:t>
            </a:r>
          </a:p>
        </p:txBody>
      </p:sp>
    </p:spTree>
    <p:extLst>
      <p:ext uri="{BB962C8B-B14F-4D97-AF65-F5344CB8AC3E}">
        <p14:creationId xmlns:p14="http://schemas.microsoft.com/office/powerpoint/2010/main" val="6955171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A2EE5E8-EE5B-47DA-884E-CB383AA3C3B9}"/>
              </a:ext>
            </a:extLst>
          </p:cNvPr>
          <p:cNvSpPr>
            <a:spLocks noGrp="1"/>
          </p:cNvSpPr>
          <p:nvPr>
            <p:ph type="ftr" sz="quarter" idx="11"/>
          </p:nvPr>
        </p:nvSpPr>
        <p:spPr/>
        <p:txBody>
          <a:bodyPr/>
          <a:lstStyle/>
          <a:p>
            <a:r>
              <a:rPr lang="en-US"/>
              <a:t>ISMS 2024 Coy, FieldComp Chemand Effective pPotentials</a:t>
            </a:r>
          </a:p>
        </p:txBody>
      </p:sp>
      <p:sp>
        <p:nvSpPr>
          <p:cNvPr id="3" name="Slide Number Placeholder 2">
            <a:extLst>
              <a:ext uri="{FF2B5EF4-FFF2-40B4-BE49-F238E27FC236}">
                <a16:creationId xmlns:a16="http://schemas.microsoft.com/office/drawing/2014/main" id="{5A585AFE-6409-4F28-98A1-FC2AACEDFF31}"/>
              </a:ext>
            </a:extLst>
          </p:cNvPr>
          <p:cNvSpPr>
            <a:spLocks noGrp="1"/>
          </p:cNvSpPr>
          <p:nvPr>
            <p:ph type="sldNum" sz="quarter" idx="12"/>
          </p:nvPr>
        </p:nvSpPr>
        <p:spPr/>
        <p:txBody>
          <a:bodyPr/>
          <a:lstStyle/>
          <a:p>
            <a:fld id="{4100E85D-C03B-4CB7-A13D-94C0497B8BAA}" type="slidenum">
              <a:rPr lang="en-US" smtClean="0"/>
              <a:t>8</a:t>
            </a:fld>
            <a:endParaRPr lang="en-US"/>
          </a:p>
        </p:txBody>
      </p:sp>
      <p:sp>
        <p:nvSpPr>
          <p:cNvPr id="4" name="TextBox 3">
            <a:extLst>
              <a:ext uri="{FF2B5EF4-FFF2-40B4-BE49-F238E27FC236}">
                <a16:creationId xmlns:a16="http://schemas.microsoft.com/office/drawing/2014/main" id="{248FDC3D-0366-405E-9F60-8A99C1E11F7D}"/>
              </a:ext>
            </a:extLst>
          </p:cNvPr>
          <p:cNvSpPr txBox="1"/>
          <p:nvPr/>
        </p:nvSpPr>
        <p:spPr>
          <a:xfrm>
            <a:off x="672353" y="163184"/>
            <a:ext cx="9902125" cy="1200329"/>
          </a:xfrm>
          <a:prstGeom prst="rect">
            <a:avLst/>
          </a:prstGeom>
          <a:noFill/>
        </p:spPr>
        <p:txBody>
          <a:bodyPr wrap="square" rtlCol="0">
            <a:spAutoFit/>
          </a:bodyPr>
          <a:lstStyle/>
          <a:p>
            <a:pPr algn="ctr"/>
            <a:r>
              <a:rPr lang="en-US" sz="2400" b="1" i="0" u="none" strike="noStrike" baseline="0" dirty="0">
                <a:latin typeface="Arial" panose="020B0604020202020204" pitchFamily="34" charset="0"/>
                <a:cs typeface="Arial" panose="020B0604020202020204" pitchFamily="34" charset="0"/>
              </a:rPr>
              <a:t>CFOUR </a:t>
            </a:r>
            <a:r>
              <a:rPr lang="en-US" sz="2400" b="1" dirty="0">
                <a:latin typeface="Arial" panose="020B0604020202020204" pitchFamily="34" charset="0"/>
                <a:cs typeface="Arial" panose="020B0604020202020204" pitchFamily="34" charset="0"/>
              </a:rPr>
              <a:t>problem in </a:t>
            </a:r>
            <a:r>
              <a:rPr lang="en-US" sz="2400" b="1" dirty="0" err="1">
                <a:latin typeface="Arial" panose="020B0604020202020204" pitchFamily="34" charset="0"/>
                <a:cs typeface="Arial" panose="020B0604020202020204" pitchFamily="34" charset="0"/>
              </a:rPr>
              <a:t>Molden</a:t>
            </a:r>
            <a:r>
              <a:rPr lang="en-US" sz="2400" b="1" dirty="0">
                <a:latin typeface="Arial" panose="020B0604020202020204" pitchFamily="34" charset="0"/>
                <a:cs typeface="Arial" panose="020B0604020202020204" pitchFamily="34" charset="0"/>
              </a:rPr>
              <a:t> files</a:t>
            </a:r>
          </a:p>
          <a:p>
            <a:pPr algn="ctr"/>
            <a:r>
              <a:rPr lang="en-US" sz="2400" b="1" dirty="0">
                <a:latin typeface="Arial" panose="020B0604020202020204" pitchFamily="34" charset="0"/>
                <a:cs typeface="Arial" panose="020B0604020202020204" pitchFamily="34" charset="0"/>
              </a:rPr>
              <a:t>Scandium monoxide quartet states</a:t>
            </a:r>
          </a:p>
          <a:p>
            <a:pPr algn="ctr"/>
            <a:r>
              <a:rPr lang="en-US" sz="2400" b="1" dirty="0">
                <a:latin typeface="Arial" panose="020B0604020202020204" pitchFamily="34" charset="0"/>
                <a:cs typeface="Arial" panose="020B0604020202020204" pitchFamily="34" charset="0"/>
              </a:rPr>
              <a:t>Natural orbitals R=3.38a0 CCSD(T) </a:t>
            </a:r>
            <a:r>
              <a:rPr lang="en-US" sz="2400" b="1" dirty="0" err="1">
                <a:latin typeface="Arial" panose="020B0604020202020204" pitchFamily="34" charset="0"/>
                <a:cs typeface="Arial" panose="020B0604020202020204" pitchFamily="34" charset="0"/>
              </a:rPr>
              <a:t>aug</a:t>
            </a:r>
            <a:r>
              <a:rPr lang="en-US" sz="2400" b="1" dirty="0">
                <a:latin typeface="Arial" panose="020B0604020202020204" pitchFamily="34" charset="0"/>
                <a:cs typeface="Arial" panose="020B0604020202020204" pitchFamily="34" charset="0"/>
              </a:rPr>
              <a:t>-cc-</a:t>
            </a:r>
            <a:r>
              <a:rPr lang="en-US" sz="2400" b="1" dirty="0" err="1">
                <a:latin typeface="Arial" panose="020B0604020202020204" pitchFamily="34" charset="0"/>
                <a:cs typeface="Arial" panose="020B0604020202020204" pitchFamily="34" charset="0"/>
              </a:rPr>
              <a:t>pwCVQZ</a:t>
            </a:r>
            <a:endParaRPr lang="en-US" sz="2400" b="1" i="0" u="none" strike="noStrike" baseline="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BDD5FEFC-15A5-416F-8611-70D611779EF6}"/>
              </a:ext>
            </a:extLst>
          </p:cNvPr>
          <p:cNvSpPr txBox="1"/>
          <p:nvPr/>
        </p:nvSpPr>
        <p:spPr>
          <a:xfrm>
            <a:off x="314793" y="1772336"/>
            <a:ext cx="11039007" cy="1015663"/>
          </a:xfrm>
          <a:prstGeom prst="rect">
            <a:avLst/>
          </a:prstGeom>
          <a:noFill/>
        </p:spPr>
        <p:txBody>
          <a:bodyPr wrap="square">
            <a:spAutoFit/>
          </a:bodyPr>
          <a:lstStyle/>
          <a:p>
            <a:r>
              <a:rPr lang="en-US" sz="1200" b="1" dirty="0">
                <a:latin typeface="Courier New" panose="02070309020205020404" pitchFamily="49" charset="0"/>
                <a:cs typeface="Courier New" panose="02070309020205020404" pitchFamily="49" charset="0"/>
              </a:rPr>
              <a:t>Population of atoms:</a:t>
            </a:r>
          </a:p>
          <a:p>
            <a:r>
              <a:rPr lang="en-US" sz="1200" b="1" dirty="0">
                <a:latin typeface="Courier New" panose="02070309020205020404" pitchFamily="49" charset="0"/>
                <a:cs typeface="Courier New" panose="02070309020205020404" pitchFamily="49" charset="0"/>
              </a:rPr>
              <a:t>     Atom      Alpha pop.   Beta pop.    Spin pop.     Atomic charge</a:t>
            </a:r>
          </a:p>
          <a:p>
            <a:r>
              <a:rPr lang="en-US" sz="1200" b="1" dirty="0">
                <a:latin typeface="Courier New" panose="02070309020205020404" pitchFamily="49" charset="0"/>
                <a:cs typeface="Courier New" panose="02070309020205020404" pitchFamily="49" charset="0"/>
              </a:rPr>
              <a:t>     1(Sc)     10.96244      9.02963      1.93281         1.00793</a:t>
            </a:r>
          </a:p>
          <a:p>
            <a:r>
              <a:rPr lang="en-US" sz="1200" b="1" dirty="0">
                <a:latin typeface="Courier New" panose="02070309020205020404" pitchFamily="49" charset="0"/>
                <a:cs typeface="Courier New" panose="02070309020205020404" pitchFamily="49" charset="0"/>
              </a:rPr>
              <a:t>     2(O )      4.90820      3.83403      1.07416        -0.74223</a:t>
            </a:r>
          </a:p>
          <a:p>
            <a:r>
              <a:rPr lang="en-US" sz="1200" b="1" dirty="0">
                <a:latin typeface="Courier New" panose="02070309020205020404" pitchFamily="49" charset="0"/>
                <a:cs typeface="Courier New" panose="02070309020205020404" pitchFamily="49" charset="0"/>
              </a:rPr>
              <a:t> Total net charge:  0.26570256      Total spin electrons:  3.00697427</a:t>
            </a:r>
          </a:p>
        </p:txBody>
      </p:sp>
      <p:sp>
        <p:nvSpPr>
          <p:cNvPr id="9" name="TextBox 8">
            <a:extLst>
              <a:ext uri="{FF2B5EF4-FFF2-40B4-BE49-F238E27FC236}">
                <a16:creationId xmlns:a16="http://schemas.microsoft.com/office/drawing/2014/main" id="{F190621C-E1E3-44A3-A0C9-8B70BB75C025}"/>
              </a:ext>
            </a:extLst>
          </p:cNvPr>
          <p:cNvSpPr txBox="1"/>
          <p:nvPr/>
        </p:nvSpPr>
        <p:spPr>
          <a:xfrm>
            <a:off x="139802" y="3006054"/>
            <a:ext cx="7055477" cy="1200329"/>
          </a:xfrm>
          <a:prstGeom prst="rect">
            <a:avLst/>
          </a:prstGeom>
          <a:noFill/>
        </p:spPr>
        <p:txBody>
          <a:bodyPr wrap="square">
            <a:spAutoFit/>
          </a:bodyPr>
          <a:lstStyle/>
          <a:p>
            <a:r>
              <a:rPr lang="en-US" sz="1200" b="1" dirty="0">
                <a:latin typeface="Courier New" panose="02070309020205020404" pitchFamily="49" charset="0"/>
                <a:cs typeface="Courier New" panose="02070309020205020404" pitchFamily="49" charset="0"/>
              </a:rPr>
              <a:t> </a:t>
            </a:r>
          </a:p>
          <a:p>
            <a:r>
              <a:rPr lang="en-US" sz="1200" b="1" dirty="0">
                <a:latin typeface="Courier New" panose="02070309020205020404" pitchFamily="49" charset="0"/>
                <a:cs typeface="Courier New" panose="02070309020205020404" pitchFamily="49" charset="0"/>
              </a:rPr>
              <a:t> Population of atoms:</a:t>
            </a:r>
          </a:p>
          <a:p>
            <a:r>
              <a:rPr lang="en-US" sz="1200" b="1" dirty="0">
                <a:latin typeface="Courier New" panose="02070309020205020404" pitchFamily="49" charset="0"/>
                <a:cs typeface="Courier New" panose="02070309020205020404" pitchFamily="49" charset="0"/>
              </a:rPr>
              <a:t>     Atom      Alpha pop.   Beta pop.    Spin pop.     Atomic charge</a:t>
            </a:r>
          </a:p>
          <a:p>
            <a:r>
              <a:rPr lang="en-US" sz="1200" b="1" dirty="0">
                <a:latin typeface="Courier New" panose="02070309020205020404" pitchFamily="49" charset="0"/>
                <a:cs typeface="Courier New" panose="02070309020205020404" pitchFamily="49" charset="0"/>
              </a:rPr>
              <a:t>     1(Sc)     11.08052      9.11162      1.96889         0.80786</a:t>
            </a:r>
          </a:p>
          <a:p>
            <a:r>
              <a:rPr lang="en-US" sz="1200" b="1" dirty="0">
                <a:latin typeface="Courier New" panose="02070309020205020404" pitchFamily="49" charset="0"/>
                <a:cs typeface="Courier New" panose="02070309020205020404" pitchFamily="49" charset="0"/>
              </a:rPr>
              <a:t>     2(O )      4.91948      3.88838      1.03111        -0.80786</a:t>
            </a:r>
          </a:p>
          <a:p>
            <a:r>
              <a:rPr lang="en-US" sz="1200" b="1" dirty="0">
                <a:latin typeface="Courier New" panose="02070309020205020404" pitchFamily="49" charset="0"/>
                <a:cs typeface="Courier New" panose="02070309020205020404" pitchFamily="49" charset="0"/>
              </a:rPr>
              <a:t> Total net charge: -0.00000000      Total spin electrons:  3.00000000</a:t>
            </a:r>
          </a:p>
        </p:txBody>
      </p:sp>
      <p:sp>
        <p:nvSpPr>
          <p:cNvPr id="11" name="TextBox 10">
            <a:extLst>
              <a:ext uri="{FF2B5EF4-FFF2-40B4-BE49-F238E27FC236}">
                <a16:creationId xmlns:a16="http://schemas.microsoft.com/office/drawing/2014/main" id="{9F5EF078-A309-411F-825A-977D7B7FBD4C}"/>
              </a:ext>
            </a:extLst>
          </p:cNvPr>
          <p:cNvSpPr txBox="1"/>
          <p:nvPr/>
        </p:nvSpPr>
        <p:spPr>
          <a:xfrm>
            <a:off x="7668157" y="2161699"/>
            <a:ext cx="3685643" cy="830997"/>
          </a:xfrm>
          <a:prstGeom prst="rect">
            <a:avLst/>
          </a:prstGeom>
          <a:noFill/>
        </p:spPr>
        <p:txBody>
          <a:bodyPr wrap="square" rtlCol="0">
            <a:spAutoFit/>
          </a:bodyPr>
          <a:lstStyle/>
          <a:p>
            <a:pPr algn="ctr"/>
            <a:r>
              <a:rPr lang="en-US" sz="2400" b="1" dirty="0">
                <a:latin typeface="Arial" panose="020B0604020202020204" pitchFamily="34" charset="0"/>
                <a:cs typeface="Arial" panose="020B0604020202020204" pitchFamily="34" charset="0"/>
              </a:rPr>
              <a:t>Charge and Multiplicity error</a:t>
            </a:r>
            <a:endParaRPr lang="en-US" sz="2400" b="1" i="0" u="none" strike="noStrike" baseline="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19427EAC-D10A-49D9-AE19-A2D7ED7BBB24}"/>
              </a:ext>
            </a:extLst>
          </p:cNvPr>
          <p:cNvSpPr txBox="1"/>
          <p:nvPr/>
        </p:nvSpPr>
        <p:spPr>
          <a:xfrm>
            <a:off x="442584" y="4106969"/>
            <a:ext cx="4493863" cy="830997"/>
          </a:xfrm>
          <a:prstGeom prst="rect">
            <a:avLst/>
          </a:prstGeom>
          <a:noFill/>
        </p:spPr>
        <p:txBody>
          <a:bodyPr wrap="square" rtlCol="0">
            <a:spAutoFit/>
          </a:bodyPr>
          <a:lstStyle/>
          <a:p>
            <a:pPr algn="ctr"/>
            <a:r>
              <a:rPr lang="en-US" sz="2400" b="1" i="0" u="none" strike="noStrike" baseline="0" dirty="0">
                <a:latin typeface="Arial" panose="020B0604020202020204" pitchFamily="34" charset="0"/>
                <a:cs typeface="Arial" panose="020B0604020202020204" pitchFamily="34" charset="0"/>
              </a:rPr>
              <a:t>Match to correlated CFOUR calculated quadrupole</a:t>
            </a:r>
          </a:p>
        </p:txBody>
      </p:sp>
      <p:sp>
        <p:nvSpPr>
          <p:cNvPr id="13" name="TextBox 12">
            <a:extLst>
              <a:ext uri="{FF2B5EF4-FFF2-40B4-BE49-F238E27FC236}">
                <a16:creationId xmlns:a16="http://schemas.microsoft.com/office/drawing/2014/main" id="{ECAE1B0E-0D3C-4AC2-8AC5-CB52493F9A56}"/>
              </a:ext>
            </a:extLst>
          </p:cNvPr>
          <p:cNvSpPr txBox="1"/>
          <p:nvPr/>
        </p:nvSpPr>
        <p:spPr>
          <a:xfrm>
            <a:off x="5834295" y="4537135"/>
            <a:ext cx="6911788" cy="1815882"/>
          </a:xfrm>
          <a:prstGeom prst="rect">
            <a:avLst/>
          </a:prstGeom>
          <a:noFill/>
        </p:spPr>
        <p:txBody>
          <a:bodyPr wrap="square">
            <a:spAutoFit/>
          </a:bodyPr>
          <a:lstStyle/>
          <a:p>
            <a:r>
              <a:rPr lang="en-US" sz="1400" b="1" dirty="0">
                <a:latin typeface="Courier New" panose="02070309020205020404" pitchFamily="49" charset="0"/>
                <a:cs typeface="Courier New" panose="02070309020205020404" pitchFamily="49" charset="0"/>
              </a:rPr>
              <a:t>Quadrupole moments (Standard Cartesian form):</a:t>
            </a:r>
          </a:p>
          <a:p>
            <a:r>
              <a:rPr lang="en-US" sz="1400" b="1" dirty="0">
                <a:latin typeface="Courier New" panose="02070309020205020404" pitchFamily="49" charset="0"/>
                <a:cs typeface="Courier New" panose="02070309020205020404" pitchFamily="49" charset="0"/>
              </a:rPr>
              <a:t> XX=  -18.940367  XY=    0.000000  XZ=    0.000000</a:t>
            </a:r>
          </a:p>
          <a:p>
            <a:r>
              <a:rPr lang="en-US" sz="1400" b="1" dirty="0">
                <a:latin typeface="Courier New" panose="02070309020205020404" pitchFamily="49" charset="0"/>
                <a:cs typeface="Courier New" panose="02070309020205020404" pitchFamily="49" charset="0"/>
              </a:rPr>
              <a:t> YX=    0.000000  YY=  -17.053677  YZ=    0.000000</a:t>
            </a:r>
          </a:p>
          <a:p>
            <a:r>
              <a:rPr lang="en-US" sz="1400" b="1" dirty="0">
                <a:latin typeface="Courier New" panose="02070309020205020404" pitchFamily="49" charset="0"/>
                <a:cs typeface="Courier New" panose="02070309020205020404" pitchFamily="49" charset="0"/>
              </a:rPr>
              <a:t> ZX=    0.000000  ZY=    0.000000  ZZ=  -22.526950</a:t>
            </a:r>
          </a:p>
          <a:p>
            <a:r>
              <a:rPr lang="en-US" sz="1400" b="1" dirty="0">
                <a:latin typeface="Courier New" panose="02070309020205020404" pitchFamily="49" charset="0"/>
                <a:cs typeface="Courier New" panose="02070309020205020404" pitchFamily="49" charset="0"/>
              </a:rPr>
              <a:t> Quadrupole moments (Traceless Cartesian form):</a:t>
            </a:r>
          </a:p>
          <a:p>
            <a:r>
              <a:rPr lang="en-US" sz="1400" b="1" dirty="0">
                <a:latin typeface="Courier New" panose="02070309020205020404" pitchFamily="49" charset="0"/>
                <a:cs typeface="Courier New" panose="02070309020205020404" pitchFamily="49" charset="0"/>
              </a:rPr>
              <a:t> XX=    0.849947  XY=    0.000000  XZ=    0.000000</a:t>
            </a:r>
          </a:p>
          <a:p>
            <a:r>
              <a:rPr lang="en-US" sz="1400" b="1" dirty="0">
                <a:latin typeface="Courier New" panose="02070309020205020404" pitchFamily="49" charset="0"/>
                <a:cs typeface="Courier New" panose="02070309020205020404" pitchFamily="49" charset="0"/>
              </a:rPr>
              <a:t> YX=    0.000000  YY=    3.679981  YZ=    0.000000</a:t>
            </a:r>
          </a:p>
          <a:p>
            <a:r>
              <a:rPr lang="en-US" sz="1400" b="1" dirty="0">
                <a:latin typeface="Courier New" panose="02070309020205020404" pitchFamily="49" charset="0"/>
                <a:cs typeface="Courier New" panose="02070309020205020404" pitchFamily="49" charset="0"/>
              </a:rPr>
              <a:t> ZX=    0.000000  ZY=    0.000000  ZZ=   -4.529928</a:t>
            </a:r>
          </a:p>
        </p:txBody>
      </p:sp>
      <p:sp>
        <p:nvSpPr>
          <p:cNvPr id="14" name="TextBox 13">
            <a:extLst>
              <a:ext uri="{FF2B5EF4-FFF2-40B4-BE49-F238E27FC236}">
                <a16:creationId xmlns:a16="http://schemas.microsoft.com/office/drawing/2014/main" id="{4E5F3B04-A4FE-4515-B859-47EB4B2E04C2}"/>
              </a:ext>
            </a:extLst>
          </p:cNvPr>
          <p:cNvSpPr txBox="1"/>
          <p:nvPr/>
        </p:nvSpPr>
        <p:spPr>
          <a:xfrm>
            <a:off x="179540" y="4988857"/>
            <a:ext cx="5443875" cy="1200329"/>
          </a:xfrm>
          <a:prstGeom prst="rect">
            <a:avLst/>
          </a:prstGeom>
          <a:noFill/>
        </p:spPr>
        <p:txBody>
          <a:bodyPr wrap="square" rtlCol="0">
            <a:spAutoFit/>
          </a:bodyPr>
          <a:lstStyle/>
          <a:p>
            <a:r>
              <a:rPr lang="en-US" dirty="0" err="1"/>
              <a:t>Multiwfn</a:t>
            </a:r>
            <a:r>
              <a:rPr lang="en-US" dirty="0"/>
              <a:t> quadrupole in standard and traceless forms.</a:t>
            </a:r>
          </a:p>
          <a:p>
            <a:endParaRPr lang="en-US" dirty="0"/>
          </a:p>
          <a:p>
            <a:r>
              <a:rPr lang="en-US" dirty="0"/>
              <a:t>The traceless forms from the corrected MOLDEN file match the  CFOUR values</a:t>
            </a:r>
          </a:p>
        </p:txBody>
      </p:sp>
      <p:sp>
        <p:nvSpPr>
          <p:cNvPr id="15" name="TextBox 14">
            <a:extLst>
              <a:ext uri="{FF2B5EF4-FFF2-40B4-BE49-F238E27FC236}">
                <a16:creationId xmlns:a16="http://schemas.microsoft.com/office/drawing/2014/main" id="{C47E777B-36EF-49B6-88BC-38359DF89DA1}"/>
              </a:ext>
            </a:extLst>
          </p:cNvPr>
          <p:cNvSpPr txBox="1"/>
          <p:nvPr/>
        </p:nvSpPr>
        <p:spPr>
          <a:xfrm>
            <a:off x="224510" y="1450162"/>
            <a:ext cx="1353832" cy="369332"/>
          </a:xfrm>
          <a:prstGeom prst="rect">
            <a:avLst/>
          </a:prstGeom>
          <a:noFill/>
        </p:spPr>
        <p:txBody>
          <a:bodyPr wrap="none" rtlCol="0">
            <a:spAutoFit/>
          </a:bodyPr>
          <a:lstStyle/>
          <a:p>
            <a:r>
              <a:rPr lang="en-US" dirty="0"/>
              <a:t>Uncorrected</a:t>
            </a:r>
          </a:p>
        </p:txBody>
      </p:sp>
      <p:sp>
        <p:nvSpPr>
          <p:cNvPr id="16" name="TextBox 15">
            <a:extLst>
              <a:ext uri="{FF2B5EF4-FFF2-40B4-BE49-F238E27FC236}">
                <a16:creationId xmlns:a16="http://schemas.microsoft.com/office/drawing/2014/main" id="{B85E9E4D-46AF-4A05-9F20-7419D5798E5F}"/>
              </a:ext>
            </a:extLst>
          </p:cNvPr>
          <p:cNvSpPr txBox="1"/>
          <p:nvPr/>
        </p:nvSpPr>
        <p:spPr>
          <a:xfrm>
            <a:off x="301960" y="2891713"/>
            <a:ext cx="1112099" cy="369332"/>
          </a:xfrm>
          <a:prstGeom prst="rect">
            <a:avLst/>
          </a:prstGeom>
          <a:noFill/>
        </p:spPr>
        <p:txBody>
          <a:bodyPr wrap="none" rtlCol="0">
            <a:spAutoFit/>
          </a:bodyPr>
          <a:lstStyle/>
          <a:p>
            <a:r>
              <a:rPr lang="en-US" dirty="0"/>
              <a:t>Corrected</a:t>
            </a:r>
          </a:p>
        </p:txBody>
      </p:sp>
    </p:spTree>
    <p:extLst>
      <p:ext uri="{BB962C8B-B14F-4D97-AF65-F5344CB8AC3E}">
        <p14:creationId xmlns:p14="http://schemas.microsoft.com/office/powerpoint/2010/main" val="2529433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BA81A6B-8588-4D21-B761-62143C888F8C}"/>
              </a:ext>
            </a:extLst>
          </p:cNvPr>
          <p:cNvSpPr>
            <a:spLocks noGrp="1"/>
          </p:cNvSpPr>
          <p:nvPr>
            <p:ph type="ftr" sz="quarter" idx="11"/>
          </p:nvPr>
        </p:nvSpPr>
        <p:spPr/>
        <p:txBody>
          <a:bodyPr/>
          <a:lstStyle/>
          <a:p>
            <a:r>
              <a:rPr lang="en-US"/>
              <a:t>ISMS 2024 Coy, FieldComp Chemand Effective pPotentials</a:t>
            </a:r>
          </a:p>
        </p:txBody>
      </p:sp>
      <p:sp>
        <p:nvSpPr>
          <p:cNvPr id="3" name="Slide Number Placeholder 2">
            <a:extLst>
              <a:ext uri="{FF2B5EF4-FFF2-40B4-BE49-F238E27FC236}">
                <a16:creationId xmlns:a16="http://schemas.microsoft.com/office/drawing/2014/main" id="{7E985FBB-73E7-4C96-B457-A3B9EF125F0B}"/>
              </a:ext>
            </a:extLst>
          </p:cNvPr>
          <p:cNvSpPr>
            <a:spLocks noGrp="1"/>
          </p:cNvSpPr>
          <p:nvPr>
            <p:ph type="sldNum" sz="quarter" idx="12"/>
          </p:nvPr>
        </p:nvSpPr>
        <p:spPr>
          <a:xfrm>
            <a:off x="-3426513" y="6356350"/>
            <a:ext cx="2743200" cy="365125"/>
          </a:xfrm>
        </p:spPr>
        <p:txBody>
          <a:bodyPr/>
          <a:lstStyle/>
          <a:p>
            <a:fld id="{4100E85D-C03B-4CB7-A13D-94C0497B8BAA}" type="slidenum">
              <a:rPr lang="en-US" smtClean="0"/>
              <a:t>9</a:t>
            </a:fld>
            <a:endParaRPr lang="en-US"/>
          </a:p>
        </p:txBody>
      </p:sp>
      <p:sp>
        <p:nvSpPr>
          <p:cNvPr id="4" name="TextBox 3">
            <a:extLst>
              <a:ext uri="{FF2B5EF4-FFF2-40B4-BE49-F238E27FC236}">
                <a16:creationId xmlns:a16="http://schemas.microsoft.com/office/drawing/2014/main" id="{D7008F88-2B2C-4CF3-A358-F67264A72394}"/>
              </a:ext>
            </a:extLst>
          </p:cNvPr>
          <p:cNvSpPr txBox="1"/>
          <p:nvPr/>
        </p:nvSpPr>
        <p:spPr>
          <a:xfrm>
            <a:off x="474645" y="148415"/>
            <a:ext cx="9902125" cy="830997"/>
          </a:xfrm>
          <a:prstGeom prst="rect">
            <a:avLst/>
          </a:prstGeom>
          <a:noFill/>
        </p:spPr>
        <p:txBody>
          <a:bodyPr wrap="square" rtlCol="0">
            <a:spAutoFit/>
          </a:bodyPr>
          <a:lstStyle/>
          <a:p>
            <a:pPr algn="ctr"/>
            <a:r>
              <a:rPr lang="en-US" sz="2400" b="1" i="0" u="none" strike="noStrike" baseline="30000" dirty="0">
                <a:latin typeface="Arial" panose="020B0604020202020204" pitchFamily="34" charset="0"/>
                <a:cs typeface="Arial" panose="020B0604020202020204" pitchFamily="34" charset="0"/>
              </a:rPr>
              <a:t>4</a:t>
            </a:r>
            <a:r>
              <a:rPr lang="en-US" sz="2400" b="1" i="0" u="none" strike="noStrike" baseline="0" dirty="0">
                <a:latin typeface="Arial" panose="020B0604020202020204" pitchFamily="34" charset="0"/>
                <a:cs typeface="Arial" panose="020B0604020202020204" pitchFamily="34" charset="0"/>
              </a:rPr>
              <a:t>ScO electronic states illustrate use of multipoles beyond the dipole</a:t>
            </a:r>
          </a:p>
        </p:txBody>
      </p:sp>
      <p:pic>
        <p:nvPicPr>
          <p:cNvPr id="5" name="Picture 4">
            <a:extLst>
              <a:ext uri="{FF2B5EF4-FFF2-40B4-BE49-F238E27FC236}">
                <a16:creationId xmlns:a16="http://schemas.microsoft.com/office/drawing/2014/main" id="{A22A6A84-FC75-4C0E-8A01-897B959E4E68}"/>
              </a:ext>
            </a:extLst>
          </p:cNvPr>
          <p:cNvPicPr>
            <a:picLocks noChangeAspect="1"/>
          </p:cNvPicPr>
          <p:nvPr/>
        </p:nvPicPr>
        <p:blipFill>
          <a:blip r:embed="rId2"/>
          <a:stretch>
            <a:fillRect/>
          </a:stretch>
        </p:blipFill>
        <p:spPr>
          <a:xfrm>
            <a:off x="6773349" y="1052512"/>
            <a:ext cx="5343525" cy="5486400"/>
          </a:xfrm>
          <a:prstGeom prst="rect">
            <a:avLst/>
          </a:prstGeom>
        </p:spPr>
      </p:pic>
      <p:pic>
        <p:nvPicPr>
          <p:cNvPr id="6" name="Picture 5">
            <a:extLst>
              <a:ext uri="{FF2B5EF4-FFF2-40B4-BE49-F238E27FC236}">
                <a16:creationId xmlns:a16="http://schemas.microsoft.com/office/drawing/2014/main" id="{4DB08715-E6F9-4E5F-8670-A51B4E012AD0}"/>
              </a:ext>
            </a:extLst>
          </p:cNvPr>
          <p:cNvPicPr>
            <a:picLocks noChangeAspect="1"/>
          </p:cNvPicPr>
          <p:nvPr/>
        </p:nvPicPr>
        <p:blipFill>
          <a:blip r:embed="rId3"/>
          <a:stretch>
            <a:fillRect/>
          </a:stretch>
        </p:blipFill>
        <p:spPr>
          <a:xfrm>
            <a:off x="9052161" y="1510540"/>
            <a:ext cx="3064713" cy="2299900"/>
          </a:xfrm>
          <a:prstGeom prst="rect">
            <a:avLst/>
          </a:prstGeom>
        </p:spPr>
      </p:pic>
      <p:sp>
        <p:nvSpPr>
          <p:cNvPr id="7" name="TextBox 6">
            <a:extLst>
              <a:ext uri="{FF2B5EF4-FFF2-40B4-BE49-F238E27FC236}">
                <a16:creationId xmlns:a16="http://schemas.microsoft.com/office/drawing/2014/main" id="{09FA5528-1A77-4003-A8B6-8A85AFB621E7}"/>
              </a:ext>
            </a:extLst>
          </p:cNvPr>
          <p:cNvSpPr txBox="1"/>
          <p:nvPr/>
        </p:nvSpPr>
        <p:spPr>
          <a:xfrm>
            <a:off x="4627644" y="2724118"/>
            <a:ext cx="2035679" cy="230832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Dipole moments of states 6 and 7 are nearly identical.</a:t>
            </a:r>
          </a:p>
          <a:p>
            <a:endParaRPr lang="en-US" sz="1600" b="1" dirty="0">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They are of odd L.</a:t>
            </a:r>
          </a:p>
          <a:p>
            <a:endParaRPr lang="en-US" sz="1600" b="1" dirty="0">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“Pi” label is from C2v. Odd-L is meant.</a:t>
            </a:r>
          </a:p>
        </p:txBody>
      </p:sp>
      <p:pic>
        <p:nvPicPr>
          <p:cNvPr id="8" name="Picture 7">
            <a:extLst>
              <a:ext uri="{FF2B5EF4-FFF2-40B4-BE49-F238E27FC236}">
                <a16:creationId xmlns:a16="http://schemas.microsoft.com/office/drawing/2014/main" id="{BA3EEAC5-00BF-41EF-972E-66505A4FA443}"/>
              </a:ext>
            </a:extLst>
          </p:cNvPr>
          <p:cNvPicPr>
            <a:picLocks noChangeAspect="1"/>
          </p:cNvPicPr>
          <p:nvPr/>
        </p:nvPicPr>
        <p:blipFill>
          <a:blip r:embed="rId4"/>
          <a:stretch>
            <a:fillRect/>
          </a:stretch>
        </p:blipFill>
        <p:spPr>
          <a:xfrm>
            <a:off x="1241134" y="1619196"/>
            <a:ext cx="2406936" cy="4097369"/>
          </a:xfrm>
          <a:prstGeom prst="rect">
            <a:avLst/>
          </a:prstGeom>
        </p:spPr>
      </p:pic>
      <p:sp>
        <p:nvSpPr>
          <p:cNvPr id="9" name="TextBox 8">
            <a:extLst>
              <a:ext uri="{FF2B5EF4-FFF2-40B4-BE49-F238E27FC236}">
                <a16:creationId xmlns:a16="http://schemas.microsoft.com/office/drawing/2014/main" id="{1A4A0B11-C925-48D7-BC75-6683B4B2FF1F}"/>
              </a:ext>
            </a:extLst>
          </p:cNvPr>
          <p:cNvSpPr txBox="1"/>
          <p:nvPr/>
        </p:nvSpPr>
        <p:spPr>
          <a:xfrm>
            <a:off x="-2777944" y="933665"/>
            <a:ext cx="2487797" cy="1754326"/>
          </a:xfrm>
          <a:prstGeom prst="rect">
            <a:avLst/>
          </a:prstGeom>
          <a:noFill/>
        </p:spPr>
        <p:txBody>
          <a:bodyPr wrap="none" rtlCol="0">
            <a:spAutoFit/>
          </a:bodyPr>
          <a:lstStyle/>
          <a:p>
            <a:r>
              <a:rPr lang="en-US" b="1" dirty="0"/>
              <a:t>Context</a:t>
            </a:r>
          </a:p>
          <a:p>
            <a:r>
              <a:rPr lang="en-US" dirty="0"/>
              <a:t>CFOUR CCSD(T) energies</a:t>
            </a:r>
          </a:p>
          <a:p>
            <a:endParaRPr lang="en-US" dirty="0"/>
          </a:p>
          <a:p>
            <a:r>
              <a:rPr lang="en-US" dirty="0" err="1"/>
              <a:t>ScO</a:t>
            </a:r>
            <a:r>
              <a:rPr lang="en-US" dirty="0"/>
              <a:t>+ triplet 9-10</a:t>
            </a:r>
          </a:p>
          <a:p>
            <a:r>
              <a:rPr lang="en-US" dirty="0" err="1"/>
              <a:t>ScO</a:t>
            </a:r>
            <a:r>
              <a:rPr lang="en-US" dirty="0"/>
              <a:t> quartet 5-8</a:t>
            </a:r>
          </a:p>
          <a:p>
            <a:r>
              <a:rPr lang="en-US" dirty="0" err="1"/>
              <a:t>ScO</a:t>
            </a:r>
            <a:r>
              <a:rPr lang="en-US" dirty="0"/>
              <a:t> doublet  1-4</a:t>
            </a:r>
          </a:p>
        </p:txBody>
      </p:sp>
      <p:sp>
        <p:nvSpPr>
          <p:cNvPr id="11" name="TextBox 10">
            <a:extLst>
              <a:ext uri="{FF2B5EF4-FFF2-40B4-BE49-F238E27FC236}">
                <a16:creationId xmlns:a16="http://schemas.microsoft.com/office/drawing/2014/main" id="{36CE35A8-480B-486E-870B-3DD192279099}"/>
              </a:ext>
            </a:extLst>
          </p:cNvPr>
          <p:cNvSpPr txBox="1"/>
          <p:nvPr/>
        </p:nvSpPr>
        <p:spPr>
          <a:xfrm>
            <a:off x="3028015" y="4664878"/>
            <a:ext cx="914033" cy="461665"/>
          </a:xfrm>
          <a:prstGeom prst="rect">
            <a:avLst/>
          </a:prstGeom>
          <a:noFill/>
        </p:spPr>
        <p:txBody>
          <a:bodyPr wrap="none" rtlCol="0">
            <a:spAutoFit/>
          </a:bodyPr>
          <a:lstStyle/>
          <a:p>
            <a:r>
              <a:rPr lang="en-US" sz="2400" b="1" baseline="30000" dirty="0">
                <a:latin typeface="Arial" panose="020B0604020202020204" pitchFamily="34" charset="0"/>
                <a:cs typeface="Arial" panose="020B0604020202020204" pitchFamily="34" charset="0"/>
              </a:rPr>
              <a:t>2</a:t>
            </a:r>
            <a:r>
              <a:rPr lang="en-US" sz="2400" b="1" dirty="0">
                <a:latin typeface="Arial" panose="020B0604020202020204" pitchFamily="34" charset="0"/>
                <a:cs typeface="Arial" panose="020B0604020202020204" pitchFamily="34" charset="0"/>
              </a:rPr>
              <a:t>ScO</a:t>
            </a:r>
          </a:p>
        </p:txBody>
      </p:sp>
      <p:sp>
        <p:nvSpPr>
          <p:cNvPr id="12" name="TextBox 11">
            <a:extLst>
              <a:ext uri="{FF2B5EF4-FFF2-40B4-BE49-F238E27FC236}">
                <a16:creationId xmlns:a16="http://schemas.microsoft.com/office/drawing/2014/main" id="{DBE32ABA-28EF-41A8-8E98-22F62B5CCF55}"/>
              </a:ext>
            </a:extLst>
          </p:cNvPr>
          <p:cNvSpPr txBox="1"/>
          <p:nvPr/>
        </p:nvSpPr>
        <p:spPr>
          <a:xfrm>
            <a:off x="3495212" y="3423199"/>
            <a:ext cx="914033" cy="461665"/>
          </a:xfrm>
          <a:prstGeom prst="rect">
            <a:avLst/>
          </a:prstGeom>
          <a:noFill/>
        </p:spPr>
        <p:txBody>
          <a:bodyPr wrap="none" rtlCol="0">
            <a:spAutoFit/>
          </a:bodyPr>
          <a:lstStyle/>
          <a:p>
            <a:r>
              <a:rPr lang="en-US" sz="2400" b="1" baseline="30000" dirty="0">
                <a:latin typeface="Arial" panose="020B0604020202020204" pitchFamily="34" charset="0"/>
                <a:cs typeface="Arial" panose="020B0604020202020204" pitchFamily="34" charset="0"/>
              </a:rPr>
              <a:t>4</a:t>
            </a:r>
            <a:r>
              <a:rPr lang="en-US" sz="2400" b="1" dirty="0">
                <a:latin typeface="Arial" panose="020B0604020202020204" pitchFamily="34" charset="0"/>
                <a:cs typeface="Arial" panose="020B0604020202020204" pitchFamily="34" charset="0"/>
              </a:rPr>
              <a:t>ScO</a:t>
            </a:r>
          </a:p>
        </p:txBody>
      </p:sp>
      <p:sp>
        <p:nvSpPr>
          <p:cNvPr id="13" name="TextBox 12">
            <a:extLst>
              <a:ext uri="{FF2B5EF4-FFF2-40B4-BE49-F238E27FC236}">
                <a16:creationId xmlns:a16="http://schemas.microsoft.com/office/drawing/2014/main" id="{4E370EC0-BF6D-46B6-8F03-0951BF81F5A0}"/>
              </a:ext>
            </a:extLst>
          </p:cNvPr>
          <p:cNvSpPr txBox="1"/>
          <p:nvPr/>
        </p:nvSpPr>
        <p:spPr>
          <a:xfrm>
            <a:off x="2778187" y="2241478"/>
            <a:ext cx="1034257" cy="461665"/>
          </a:xfrm>
          <a:prstGeom prst="rect">
            <a:avLst/>
          </a:prstGeom>
          <a:noFill/>
        </p:spPr>
        <p:txBody>
          <a:bodyPr wrap="none" rtlCol="0">
            <a:spAutoFit/>
          </a:bodyPr>
          <a:lstStyle/>
          <a:p>
            <a:r>
              <a:rPr lang="en-US" sz="2400" b="1" baseline="30000" dirty="0">
                <a:latin typeface="Arial" panose="020B0604020202020204" pitchFamily="34" charset="0"/>
                <a:cs typeface="Arial" panose="020B0604020202020204" pitchFamily="34" charset="0"/>
              </a:rPr>
              <a:t>3</a:t>
            </a:r>
            <a:r>
              <a:rPr lang="en-US" sz="2400" b="1" dirty="0">
                <a:latin typeface="Arial" panose="020B0604020202020204" pitchFamily="34" charset="0"/>
                <a:cs typeface="Arial" panose="020B0604020202020204" pitchFamily="34" charset="0"/>
              </a:rPr>
              <a:t>ScO</a:t>
            </a:r>
            <a:r>
              <a:rPr lang="en-US" sz="2400" b="1" baseline="300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513383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5D3F57-B79F-4D95-BA19-F11FEB7E49CC}"/>
              </a:ext>
            </a:extLst>
          </p:cNvPr>
          <p:cNvSpPr>
            <a:spLocks noGrp="1"/>
          </p:cNvSpPr>
          <p:nvPr>
            <p:ph type="dt" sz="half" idx="10"/>
          </p:nvPr>
        </p:nvSpPr>
        <p:spPr>
          <a:xfrm>
            <a:off x="1151709" y="6295391"/>
            <a:ext cx="3657600" cy="365125"/>
          </a:xfrm>
        </p:spPr>
        <p:txBody>
          <a:bodyPr/>
          <a:lstStyle/>
          <a:p>
            <a:r>
              <a:rPr lang="en-US"/>
              <a:t>7/25/2023</a:t>
            </a:r>
          </a:p>
        </p:txBody>
      </p:sp>
      <p:sp>
        <p:nvSpPr>
          <p:cNvPr id="3" name="Footer Placeholder 2">
            <a:extLst>
              <a:ext uri="{FF2B5EF4-FFF2-40B4-BE49-F238E27FC236}">
                <a16:creationId xmlns:a16="http://schemas.microsoft.com/office/drawing/2014/main" id="{4F210260-921D-4336-B746-75B765FD600F}"/>
              </a:ext>
            </a:extLst>
          </p:cNvPr>
          <p:cNvSpPr>
            <a:spLocks noGrp="1"/>
          </p:cNvSpPr>
          <p:nvPr>
            <p:ph type="ftr" sz="quarter" idx="11"/>
          </p:nvPr>
        </p:nvSpPr>
        <p:spPr>
          <a:xfrm>
            <a:off x="4352109" y="6295391"/>
            <a:ext cx="3657600" cy="365125"/>
          </a:xfrm>
        </p:spPr>
        <p:txBody>
          <a:bodyPr/>
          <a:lstStyle/>
          <a:p>
            <a:r>
              <a:rPr lang="en-US"/>
              <a:t>Defining a process for ScO  ScO-M4b</a:t>
            </a:r>
          </a:p>
        </p:txBody>
      </p:sp>
      <p:sp>
        <p:nvSpPr>
          <p:cNvPr id="4" name="Slide Number Placeholder 3">
            <a:extLst>
              <a:ext uri="{FF2B5EF4-FFF2-40B4-BE49-F238E27FC236}">
                <a16:creationId xmlns:a16="http://schemas.microsoft.com/office/drawing/2014/main" id="{B69E3066-9F05-4C63-9669-ED1E22EBB37A}"/>
              </a:ext>
            </a:extLst>
          </p:cNvPr>
          <p:cNvSpPr>
            <a:spLocks noGrp="1"/>
          </p:cNvSpPr>
          <p:nvPr>
            <p:ph type="sldNum" sz="quarter" idx="12"/>
          </p:nvPr>
        </p:nvSpPr>
        <p:spPr>
          <a:xfrm>
            <a:off x="8924109" y="6295391"/>
            <a:ext cx="3657600" cy="365125"/>
          </a:xfrm>
        </p:spPr>
        <p:txBody>
          <a:bodyPr/>
          <a:lstStyle/>
          <a:p>
            <a:fld id="{1E8131A9-A624-41BF-B2D9-19745D47EE50}" type="slidenum">
              <a:rPr lang="en-US" smtClean="0"/>
              <a:t>10</a:t>
            </a:fld>
            <a:endParaRPr lang="en-US"/>
          </a:p>
        </p:txBody>
      </p:sp>
      <p:pic>
        <p:nvPicPr>
          <p:cNvPr id="5" name="Picture 4">
            <a:extLst>
              <a:ext uri="{FF2B5EF4-FFF2-40B4-BE49-F238E27FC236}">
                <a16:creationId xmlns:a16="http://schemas.microsoft.com/office/drawing/2014/main" id="{236ECB54-3626-4189-8111-79CF88146BCC}"/>
              </a:ext>
            </a:extLst>
          </p:cNvPr>
          <p:cNvPicPr>
            <a:picLocks noChangeAspect="1"/>
          </p:cNvPicPr>
          <p:nvPr/>
        </p:nvPicPr>
        <p:blipFill>
          <a:blip r:embed="rId2"/>
          <a:stretch>
            <a:fillRect/>
          </a:stretch>
        </p:blipFill>
        <p:spPr>
          <a:xfrm>
            <a:off x="8159931" y="3265541"/>
            <a:ext cx="3657600" cy="2744829"/>
          </a:xfrm>
          <a:prstGeom prst="rect">
            <a:avLst/>
          </a:prstGeom>
        </p:spPr>
      </p:pic>
      <p:pic>
        <p:nvPicPr>
          <p:cNvPr id="6" name="Picture 5">
            <a:extLst>
              <a:ext uri="{FF2B5EF4-FFF2-40B4-BE49-F238E27FC236}">
                <a16:creationId xmlns:a16="http://schemas.microsoft.com/office/drawing/2014/main" id="{ADE1B29C-F547-4DAD-BA3B-E9A16A8E0F33}"/>
              </a:ext>
            </a:extLst>
          </p:cNvPr>
          <p:cNvPicPr>
            <a:picLocks noChangeAspect="1"/>
          </p:cNvPicPr>
          <p:nvPr/>
        </p:nvPicPr>
        <p:blipFill>
          <a:blip r:embed="rId3"/>
          <a:stretch>
            <a:fillRect/>
          </a:stretch>
        </p:blipFill>
        <p:spPr>
          <a:xfrm>
            <a:off x="8159931" y="402073"/>
            <a:ext cx="3657600" cy="2744829"/>
          </a:xfrm>
          <a:prstGeom prst="rect">
            <a:avLst/>
          </a:prstGeom>
        </p:spPr>
      </p:pic>
      <p:pic>
        <p:nvPicPr>
          <p:cNvPr id="9" name="Picture 8">
            <a:extLst>
              <a:ext uri="{FF2B5EF4-FFF2-40B4-BE49-F238E27FC236}">
                <a16:creationId xmlns:a16="http://schemas.microsoft.com/office/drawing/2014/main" id="{5A1B6625-1DD6-48C1-A58F-12239BFE1E29}"/>
              </a:ext>
            </a:extLst>
          </p:cNvPr>
          <p:cNvPicPr>
            <a:picLocks noChangeAspect="1"/>
          </p:cNvPicPr>
          <p:nvPr/>
        </p:nvPicPr>
        <p:blipFill>
          <a:blip r:embed="rId4"/>
          <a:stretch>
            <a:fillRect/>
          </a:stretch>
        </p:blipFill>
        <p:spPr>
          <a:xfrm>
            <a:off x="4077664" y="3343775"/>
            <a:ext cx="3657600" cy="2744829"/>
          </a:xfrm>
          <a:prstGeom prst="rect">
            <a:avLst/>
          </a:prstGeom>
        </p:spPr>
      </p:pic>
      <p:pic>
        <p:nvPicPr>
          <p:cNvPr id="10" name="Picture 9">
            <a:extLst>
              <a:ext uri="{FF2B5EF4-FFF2-40B4-BE49-F238E27FC236}">
                <a16:creationId xmlns:a16="http://schemas.microsoft.com/office/drawing/2014/main" id="{6E6FB250-9E79-40F6-9893-2A9F08DF9DAE}"/>
              </a:ext>
            </a:extLst>
          </p:cNvPr>
          <p:cNvPicPr>
            <a:picLocks noChangeAspect="1"/>
          </p:cNvPicPr>
          <p:nvPr/>
        </p:nvPicPr>
        <p:blipFill>
          <a:blip r:embed="rId5"/>
          <a:stretch>
            <a:fillRect/>
          </a:stretch>
        </p:blipFill>
        <p:spPr>
          <a:xfrm>
            <a:off x="4267200" y="402072"/>
            <a:ext cx="3657600" cy="2744829"/>
          </a:xfrm>
          <a:prstGeom prst="rect">
            <a:avLst/>
          </a:prstGeom>
        </p:spPr>
      </p:pic>
      <p:pic>
        <p:nvPicPr>
          <p:cNvPr id="11" name="Picture 10">
            <a:extLst>
              <a:ext uri="{FF2B5EF4-FFF2-40B4-BE49-F238E27FC236}">
                <a16:creationId xmlns:a16="http://schemas.microsoft.com/office/drawing/2014/main" id="{0DB35EDB-2AF0-422F-BC9E-24E62847D2F3}"/>
              </a:ext>
            </a:extLst>
          </p:cNvPr>
          <p:cNvPicPr>
            <a:picLocks noChangeAspect="1"/>
          </p:cNvPicPr>
          <p:nvPr/>
        </p:nvPicPr>
        <p:blipFill>
          <a:blip r:embed="rId6"/>
          <a:stretch>
            <a:fillRect/>
          </a:stretch>
        </p:blipFill>
        <p:spPr>
          <a:xfrm>
            <a:off x="374469" y="3343775"/>
            <a:ext cx="3657600" cy="2744829"/>
          </a:xfrm>
          <a:prstGeom prst="rect">
            <a:avLst/>
          </a:prstGeom>
        </p:spPr>
      </p:pic>
      <p:pic>
        <p:nvPicPr>
          <p:cNvPr id="12" name="Picture 11">
            <a:extLst>
              <a:ext uri="{FF2B5EF4-FFF2-40B4-BE49-F238E27FC236}">
                <a16:creationId xmlns:a16="http://schemas.microsoft.com/office/drawing/2014/main" id="{F389207C-C70E-4CA1-8773-93245E53FEDF}"/>
              </a:ext>
            </a:extLst>
          </p:cNvPr>
          <p:cNvPicPr>
            <a:picLocks noChangeAspect="1"/>
          </p:cNvPicPr>
          <p:nvPr/>
        </p:nvPicPr>
        <p:blipFill>
          <a:blip r:embed="rId7"/>
          <a:stretch>
            <a:fillRect/>
          </a:stretch>
        </p:blipFill>
        <p:spPr>
          <a:xfrm>
            <a:off x="374469" y="449056"/>
            <a:ext cx="3657600" cy="2744829"/>
          </a:xfrm>
          <a:prstGeom prst="rect">
            <a:avLst/>
          </a:prstGeom>
        </p:spPr>
      </p:pic>
      <p:sp>
        <p:nvSpPr>
          <p:cNvPr id="7" name="TextBox 6">
            <a:extLst>
              <a:ext uri="{FF2B5EF4-FFF2-40B4-BE49-F238E27FC236}">
                <a16:creationId xmlns:a16="http://schemas.microsoft.com/office/drawing/2014/main" id="{4453CE19-9282-48F5-A51C-781263C15A8B}"/>
              </a:ext>
            </a:extLst>
          </p:cNvPr>
          <p:cNvSpPr txBox="1"/>
          <p:nvPr/>
        </p:nvSpPr>
        <p:spPr>
          <a:xfrm>
            <a:off x="6858000" y="6009435"/>
            <a:ext cx="4233018" cy="369332"/>
          </a:xfrm>
          <a:prstGeom prst="rect">
            <a:avLst/>
          </a:prstGeom>
          <a:noFill/>
        </p:spPr>
        <p:txBody>
          <a:bodyPr wrap="none" rtlCol="0">
            <a:spAutoFit/>
          </a:bodyPr>
          <a:lstStyle/>
          <a:p>
            <a:r>
              <a:rPr lang="en-US" b="1" dirty="0"/>
              <a:t>Resolution by Q2,Q3 and axial asymmetry.</a:t>
            </a:r>
          </a:p>
        </p:txBody>
      </p:sp>
    </p:spTree>
    <p:extLst>
      <p:ext uri="{BB962C8B-B14F-4D97-AF65-F5344CB8AC3E}">
        <p14:creationId xmlns:p14="http://schemas.microsoft.com/office/powerpoint/2010/main" val="3101021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56DC64B-C4ED-439D-AA19-317A34F9533D}"/>
              </a:ext>
            </a:extLst>
          </p:cNvPr>
          <p:cNvSpPr txBox="1"/>
          <p:nvPr/>
        </p:nvSpPr>
        <p:spPr>
          <a:xfrm>
            <a:off x="0" y="136525"/>
            <a:ext cx="6942160" cy="830997"/>
          </a:xfrm>
          <a:prstGeom prst="rect">
            <a:avLst/>
          </a:prstGeom>
          <a:noFill/>
        </p:spPr>
        <p:txBody>
          <a:bodyPr wrap="square" rtlCol="0">
            <a:spAutoFit/>
          </a:bodyPr>
          <a:lstStyle/>
          <a:p>
            <a:pPr algn="ctr"/>
            <a:r>
              <a:rPr lang="en-US" sz="2400" b="1" dirty="0">
                <a:latin typeface="Arial" panose="020B0604020202020204" pitchFamily="34" charset="0"/>
                <a:cs typeface="Arial" panose="020B0604020202020204" pitchFamily="34" charset="0"/>
              </a:rPr>
              <a:t>L=4 moment from MOLDEN files</a:t>
            </a:r>
          </a:p>
          <a:p>
            <a:pPr algn="ctr"/>
            <a:r>
              <a:rPr lang="en-US" sz="2400" b="1" i="0" u="none" strike="noStrike" baseline="0" dirty="0">
                <a:latin typeface="Arial" panose="020B0604020202020204" pitchFamily="34" charset="0"/>
                <a:cs typeface="Arial" panose="020B0604020202020204" pitchFamily="34" charset="0"/>
              </a:rPr>
              <a:t>HNO L=4 terms</a:t>
            </a:r>
          </a:p>
        </p:txBody>
      </p:sp>
      <p:sp>
        <p:nvSpPr>
          <p:cNvPr id="2" name="Footer Placeholder 1">
            <a:extLst>
              <a:ext uri="{FF2B5EF4-FFF2-40B4-BE49-F238E27FC236}">
                <a16:creationId xmlns:a16="http://schemas.microsoft.com/office/drawing/2014/main" id="{0F082A7D-145F-4F70-A6DE-C7A8327999FB}"/>
              </a:ext>
            </a:extLst>
          </p:cNvPr>
          <p:cNvSpPr>
            <a:spLocks noGrp="1"/>
          </p:cNvSpPr>
          <p:nvPr>
            <p:ph type="ftr" sz="quarter" idx="11"/>
          </p:nvPr>
        </p:nvSpPr>
        <p:spPr/>
        <p:txBody>
          <a:bodyPr/>
          <a:lstStyle/>
          <a:p>
            <a:r>
              <a:rPr lang="en-US"/>
              <a:t>ISMS 2024 Coy, FieldComp Chemand Effective pPotentials</a:t>
            </a:r>
          </a:p>
        </p:txBody>
      </p:sp>
      <p:sp>
        <p:nvSpPr>
          <p:cNvPr id="3" name="Slide Number Placeholder 2">
            <a:extLst>
              <a:ext uri="{FF2B5EF4-FFF2-40B4-BE49-F238E27FC236}">
                <a16:creationId xmlns:a16="http://schemas.microsoft.com/office/drawing/2014/main" id="{24864B42-B4DC-4A79-9643-48E748C5BEA0}"/>
              </a:ext>
            </a:extLst>
          </p:cNvPr>
          <p:cNvSpPr>
            <a:spLocks noGrp="1"/>
          </p:cNvSpPr>
          <p:nvPr>
            <p:ph type="sldNum" sz="quarter" idx="12"/>
          </p:nvPr>
        </p:nvSpPr>
        <p:spPr/>
        <p:txBody>
          <a:bodyPr/>
          <a:lstStyle/>
          <a:p>
            <a:fld id="{4100E85D-C03B-4CB7-A13D-94C0497B8BAA}" type="slidenum">
              <a:rPr lang="en-US" smtClean="0"/>
              <a:t>11</a:t>
            </a:fld>
            <a:endParaRPr lang="en-US"/>
          </a:p>
        </p:txBody>
      </p:sp>
      <p:graphicFrame>
        <p:nvGraphicFramePr>
          <p:cNvPr id="4" name="Object 3">
            <a:extLst>
              <a:ext uri="{FF2B5EF4-FFF2-40B4-BE49-F238E27FC236}">
                <a16:creationId xmlns:a16="http://schemas.microsoft.com/office/drawing/2014/main" id="{894F8821-F14A-4271-8ABE-D0E365460531}"/>
              </a:ext>
            </a:extLst>
          </p:cNvPr>
          <p:cNvGraphicFramePr>
            <a:graphicFrameLocks noChangeAspect="1"/>
          </p:cNvGraphicFramePr>
          <p:nvPr>
            <p:extLst>
              <p:ext uri="{D42A27DB-BD31-4B8C-83A1-F6EECF244321}">
                <p14:modId xmlns:p14="http://schemas.microsoft.com/office/powerpoint/2010/main" val="355949714"/>
              </p:ext>
            </p:extLst>
          </p:nvPr>
        </p:nvGraphicFramePr>
        <p:xfrm>
          <a:off x="6263888" y="80123"/>
          <a:ext cx="5486400" cy="6458789"/>
        </p:xfrm>
        <a:graphic>
          <a:graphicData uri="http://schemas.openxmlformats.org/presentationml/2006/ole">
            <mc:AlternateContent xmlns:mc="http://schemas.openxmlformats.org/markup-compatibility/2006">
              <mc:Choice xmlns:v="urn:schemas-microsoft-com:vml" Requires="v">
                <p:oleObj spid="_x0000_s2061" name="Equation" r:id="rId3" imgW="5732467" imgH="6748194" progId="Equation.DSMT4">
                  <p:embed/>
                </p:oleObj>
              </mc:Choice>
              <mc:Fallback>
                <p:oleObj name="Equation" r:id="rId3" imgW="5732467" imgH="6748194" progId="Equation.DSMT4">
                  <p:embed/>
                  <p:pic>
                    <p:nvPicPr>
                      <p:cNvPr id="0" name=""/>
                      <p:cNvPicPr/>
                      <p:nvPr/>
                    </p:nvPicPr>
                    <p:blipFill>
                      <a:blip r:embed="rId4"/>
                      <a:stretch>
                        <a:fillRect/>
                      </a:stretch>
                    </p:blipFill>
                    <p:spPr>
                      <a:xfrm>
                        <a:off x="6263888" y="80123"/>
                        <a:ext cx="5486400" cy="6458789"/>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76F382E5-073D-48E2-BDAD-70099DC1E726}"/>
              </a:ext>
            </a:extLst>
          </p:cNvPr>
          <p:cNvSpPr txBox="1"/>
          <p:nvPr/>
        </p:nvSpPr>
        <p:spPr>
          <a:xfrm>
            <a:off x="207868" y="909913"/>
            <a:ext cx="5725572" cy="5078313"/>
          </a:xfrm>
          <a:prstGeom prst="rect">
            <a:avLst/>
          </a:prstGeom>
          <a:noFill/>
        </p:spPr>
        <p:txBody>
          <a:bodyPr wrap="square" rtlCol="0">
            <a:spAutoFit/>
          </a:bodyPr>
          <a:lstStyle/>
          <a:p>
            <a:r>
              <a:rPr lang="en-US" dirty="0"/>
              <a:t>CFOUR CCSD(T) HNO bent geometry </a:t>
            </a:r>
          </a:p>
          <a:p>
            <a:endParaRPr lang="en-US" dirty="0"/>
          </a:p>
          <a:p>
            <a:r>
              <a:rPr lang="en-US" dirty="0"/>
              <a:t>Number of terms in the Cartesian potential expansion of order L</a:t>
            </a:r>
          </a:p>
          <a:p>
            <a:pPr marL="285750" indent="-285750">
              <a:buFont typeface="Arial" panose="020B0604020202020204" pitchFamily="34" charset="0"/>
              <a:buChar char="•"/>
            </a:pPr>
            <a:r>
              <a:rPr lang="en-US" dirty="0"/>
              <a:t>(L+1)(L+2)/2 terms counting permutations </a:t>
            </a:r>
          </a:p>
          <a:p>
            <a:pPr marL="742950" lvl="1" indent="-285750">
              <a:buFont typeface="Arial" panose="020B0604020202020204" pitchFamily="34" charset="0"/>
              <a:buChar char="•"/>
            </a:pPr>
            <a:r>
              <a:rPr lang="en-US" dirty="0"/>
              <a:t>L=4, 15 terms</a:t>
            </a:r>
          </a:p>
          <a:p>
            <a:pPr marL="285750" indent="-285750">
              <a:buFont typeface="Arial" panose="020B0604020202020204" pitchFamily="34" charset="0"/>
              <a:buChar char="•"/>
            </a:pPr>
            <a:r>
              <a:rPr lang="en-US" dirty="0"/>
              <a:t>The number of Poisson relations is given by same expression using L-2, 2 for XX,YY,ZZ.</a:t>
            </a:r>
          </a:p>
          <a:p>
            <a:pPr marL="742950" lvl="1" indent="-285750">
              <a:buFont typeface="Arial" panose="020B0604020202020204" pitchFamily="34" charset="0"/>
              <a:buChar char="•"/>
            </a:pPr>
            <a:r>
              <a:rPr lang="en-US" dirty="0"/>
              <a:t>L=4,  6 Poisson relations</a:t>
            </a:r>
          </a:p>
          <a:p>
            <a:pPr marL="285750" indent="-285750">
              <a:buFont typeface="Arial" panose="020B0604020202020204" pitchFamily="34" charset="0"/>
              <a:buChar char="•"/>
            </a:pPr>
            <a:r>
              <a:rPr lang="en-US" dirty="0"/>
              <a:t>The weight factor is the </a:t>
            </a:r>
            <a:r>
              <a:rPr lang="en-US" dirty="0" err="1"/>
              <a:t>mumber</a:t>
            </a:r>
            <a:r>
              <a:rPr lang="en-US" dirty="0"/>
              <a:t> of </a:t>
            </a:r>
            <a:r>
              <a:rPr lang="en-US" dirty="0" err="1"/>
              <a:t>permuations</a:t>
            </a:r>
            <a:r>
              <a:rPr lang="en-US" dirty="0"/>
              <a:t> of 4 items reduced by the X, Y, Z permutations</a:t>
            </a:r>
          </a:p>
          <a:p>
            <a:pPr marL="742950" lvl="1" indent="-285750">
              <a:buFont typeface="Arial" panose="020B0604020202020204" pitchFamily="34" charset="0"/>
              <a:buChar char="•"/>
            </a:pPr>
            <a:r>
              <a:rPr lang="en-US" dirty="0"/>
              <a:t>L! / (</a:t>
            </a:r>
            <a:r>
              <a:rPr lang="en-US" dirty="0" err="1"/>
              <a:t>nX</a:t>
            </a:r>
            <a:r>
              <a:rPr lang="en-US" dirty="0"/>
              <a:t>! </a:t>
            </a:r>
            <a:r>
              <a:rPr lang="en-US" dirty="0" err="1"/>
              <a:t>nY</a:t>
            </a:r>
            <a:r>
              <a:rPr lang="en-US" dirty="0"/>
              <a:t>! </a:t>
            </a:r>
            <a:r>
              <a:rPr lang="en-US" dirty="0" err="1"/>
              <a:t>nZ</a:t>
            </a:r>
            <a:r>
              <a:rPr lang="en-US" dirty="0"/>
              <a:t>!), </a:t>
            </a:r>
            <a:r>
              <a:rPr lang="en-US" dirty="0" err="1"/>
              <a:t>e.g.XYZZ</a:t>
            </a:r>
            <a:r>
              <a:rPr lang="en-US" dirty="0"/>
              <a:t> = 12;</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factor needed to correct the CFOUR wave function MOLDEN  increases particular terms in the traceless expansion (note 0!! and (-1)!! are 1.)</a:t>
            </a:r>
          </a:p>
          <a:p>
            <a:pPr marL="742950" lvl="1" indent="-285750">
              <a:buFont typeface="Arial" panose="020B0604020202020204" pitchFamily="34" charset="0"/>
              <a:buChar char="•"/>
            </a:pPr>
            <a:r>
              <a:rPr lang="en-US" dirty="0"/>
              <a:t>Sqrt( (2nX-1)!! (2nY-1)!! (2nZ-1)!! ) )</a:t>
            </a:r>
          </a:p>
        </p:txBody>
      </p:sp>
    </p:spTree>
    <p:extLst>
      <p:ext uri="{BB962C8B-B14F-4D97-AF65-F5344CB8AC3E}">
        <p14:creationId xmlns:p14="http://schemas.microsoft.com/office/powerpoint/2010/main" val="3643933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4056537-0F3C-4B9D-AF02-2FF16CC67182}"/>
              </a:ext>
            </a:extLst>
          </p:cNvPr>
          <p:cNvSpPr>
            <a:spLocks noGrp="1"/>
          </p:cNvSpPr>
          <p:nvPr>
            <p:ph type="ftr" sz="quarter" idx="11"/>
          </p:nvPr>
        </p:nvSpPr>
        <p:spPr/>
        <p:txBody>
          <a:bodyPr/>
          <a:lstStyle/>
          <a:p>
            <a:r>
              <a:rPr lang="en-US"/>
              <a:t>ISMS 2024 Coy, FieldComp Chemand Effective pPotentials</a:t>
            </a:r>
          </a:p>
        </p:txBody>
      </p:sp>
      <p:sp>
        <p:nvSpPr>
          <p:cNvPr id="3" name="Slide Number Placeholder 2">
            <a:extLst>
              <a:ext uri="{FF2B5EF4-FFF2-40B4-BE49-F238E27FC236}">
                <a16:creationId xmlns:a16="http://schemas.microsoft.com/office/drawing/2014/main" id="{26CB1812-2991-4FA2-A775-3BEF0BC4F7FE}"/>
              </a:ext>
            </a:extLst>
          </p:cNvPr>
          <p:cNvSpPr>
            <a:spLocks noGrp="1"/>
          </p:cNvSpPr>
          <p:nvPr>
            <p:ph type="sldNum" sz="quarter" idx="12"/>
          </p:nvPr>
        </p:nvSpPr>
        <p:spPr/>
        <p:txBody>
          <a:bodyPr/>
          <a:lstStyle/>
          <a:p>
            <a:fld id="{4100E85D-C03B-4CB7-A13D-94C0497B8BAA}" type="slidenum">
              <a:rPr lang="en-US" smtClean="0"/>
              <a:t>12</a:t>
            </a:fld>
            <a:endParaRPr lang="en-US"/>
          </a:p>
        </p:txBody>
      </p:sp>
      <p:graphicFrame>
        <p:nvGraphicFramePr>
          <p:cNvPr id="4" name="Object 3">
            <a:extLst>
              <a:ext uri="{FF2B5EF4-FFF2-40B4-BE49-F238E27FC236}">
                <a16:creationId xmlns:a16="http://schemas.microsoft.com/office/drawing/2014/main" id="{D063B4BD-7272-483E-B455-964D22F51720}"/>
              </a:ext>
            </a:extLst>
          </p:cNvPr>
          <p:cNvGraphicFramePr>
            <a:graphicFrameLocks noChangeAspect="1"/>
          </p:cNvGraphicFramePr>
          <p:nvPr>
            <p:extLst>
              <p:ext uri="{D42A27DB-BD31-4B8C-83A1-F6EECF244321}">
                <p14:modId xmlns:p14="http://schemas.microsoft.com/office/powerpoint/2010/main" val="3213527306"/>
              </p:ext>
            </p:extLst>
          </p:nvPr>
        </p:nvGraphicFramePr>
        <p:xfrm>
          <a:off x="268288" y="1046163"/>
          <a:ext cx="5656263" cy="4635500"/>
        </p:xfrm>
        <a:graphic>
          <a:graphicData uri="http://schemas.openxmlformats.org/presentationml/2006/ole">
            <mc:AlternateContent xmlns:mc="http://schemas.openxmlformats.org/markup-compatibility/2006">
              <mc:Choice xmlns:v="urn:schemas-microsoft-com:vml" Requires="v">
                <p:oleObj spid="_x0000_s3091" name="Equation" r:id="rId3" imgW="5656400" imgH="4635134" progId="Equation.DSMT4">
                  <p:embed/>
                </p:oleObj>
              </mc:Choice>
              <mc:Fallback>
                <p:oleObj name="Equation" r:id="rId3" imgW="5656400" imgH="4635134" progId="Equation.DSMT4">
                  <p:embed/>
                  <p:pic>
                    <p:nvPicPr>
                      <p:cNvPr id="0" name=""/>
                      <p:cNvPicPr/>
                      <p:nvPr/>
                    </p:nvPicPr>
                    <p:blipFill>
                      <a:blip r:embed="rId4"/>
                      <a:stretch>
                        <a:fillRect/>
                      </a:stretch>
                    </p:blipFill>
                    <p:spPr>
                      <a:xfrm>
                        <a:off x="268288" y="1046163"/>
                        <a:ext cx="5656263" cy="4635500"/>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75520A90-C9A0-43D9-98B4-C1D801FEFD4A}"/>
              </a:ext>
            </a:extLst>
          </p:cNvPr>
          <p:cNvGraphicFramePr>
            <a:graphicFrameLocks noChangeAspect="1"/>
          </p:cNvGraphicFramePr>
          <p:nvPr>
            <p:extLst>
              <p:ext uri="{D42A27DB-BD31-4B8C-83A1-F6EECF244321}">
                <p14:modId xmlns:p14="http://schemas.microsoft.com/office/powerpoint/2010/main" val="1848099942"/>
              </p:ext>
            </p:extLst>
          </p:nvPr>
        </p:nvGraphicFramePr>
        <p:xfrm>
          <a:off x="6192838" y="1046163"/>
          <a:ext cx="5656263" cy="4635500"/>
        </p:xfrm>
        <a:graphic>
          <a:graphicData uri="http://schemas.openxmlformats.org/presentationml/2006/ole">
            <mc:AlternateContent xmlns:mc="http://schemas.openxmlformats.org/markup-compatibility/2006">
              <mc:Choice xmlns:v="urn:schemas-microsoft-com:vml" Requires="v">
                <p:oleObj spid="_x0000_s3092" name="Equation" r:id="rId5" imgW="5656400" imgH="4635134" progId="Equation.DSMT4">
                  <p:embed/>
                </p:oleObj>
              </mc:Choice>
              <mc:Fallback>
                <p:oleObj name="Equation" r:id="rId5" imgW="5656400" imgH="4635134" progId="Equation.DSMT4">
                  <p:embed/>
                  <p:pic>
                    <p:nvPicPr>
                      <p:cNvPr id="0" name=""/>
                      <p:cNvPicPr/>
                      <p:nvPr/>
                    </p:nvPicPr>
                    <p:blipFill>
                      <a:blip r:embed="rId6"/>
                      <a:stretch>
                        <a:fillRect/>
                      </a:stretch>
                    </p:blipFill>
                    <p:spPr>
                      <a:xfrm>
                        <a:off x="6192838" y="1046163"/>
                        <a:ext cx="5656263" cy="4635500"/>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9AA46ABC-CA30-4F8A-A091-180048070121}"/>
              </a:ext>
            </a:extLst>
          </p:cNvPr>
          <p:cNvSpPr txBox="1"/>
          <p:nvPr/>
        </p:nvSpPr>
        <p:spPr>
          <a:xfrm>
            <a:off x="2721758" y="136525"/>
            <a:ext cx="6942160" cy="830997"/>
          </a:xfrm>
          <a:prstGeom prst="rect">
            <a:avLst/>
          </a:prstGeom>
          <a:noFill/>
        </p:spPr>
        <p:txBody>
          <a:bodyPr wrap="square" rtlCol="0">
            <a:spAutoFit/>
          </a:bodyPr>
          <a:lstStyle/>
          <a:p>
            <a:pPr algn="ctr"/>
            <a:r>
              <a:rPr lang="en-US" sz="2400" b="1" i="0" u="none" strike="noStrike" baseline="0" dirty="0">
                <a:latin typeface="Arial" panose="020B0604020202020204" pitchFamily="34" charset="0"/>
                <a:cs typeface="Arial" panose="020B0604020202020204" pitchFamily="34" charset="0"/>
              </a:rPr>
              <a:t>Primitive to Traceless:  </a:t>
            </a:r>
          </a:p>
          <a:p>
            <a:pPr algn="ctr"/>
            <a:r>
              <a:rPr lang="en-US" sz="2400" b="1" i="0" u="none" strike="noStrike" baseline="0" dirty="0">
                <a:latin typeface="Arial" panose="020B0604020202020204" pitchFamily="34" charset="0"/>
                <a:cs typeface="Arial" panose="020B0604020202020204" pitchFamily="34" charset="0"/>
              </a:rPr>
              <a:t>HNO L=4 Poisson relations</a:t>
            </a:r>
          </a:p>
        </p:txBody>
      </p:sp>
      <p:sp>
        <p:nvSpPr>
          <p:cNvPr id="7" name="TextBox 6">
            <a:extLst>
              <a:ext uri="{FF2B5EF4-FFF2-40B4-BE49-F238E27FC236}">
                <a16:creationId xmlns:a16="http://schemas.microsoft.com/office/drawing/2014/main" id="{995FB736-4D2F-4905-ADCC-33D0D11E0C55}"/>
              </a:ext>
            </a:extLst>
          </p:cNvPr>
          <p:cNvSpPr txBox="1"/>
          <p:nvPr/>
        </p:nvSpPr>
        <p:spPr>
          <a:xfrm>
            <a:off x="1181100" y="5681663"/>
            <a:ext cx="9230989" cy="646331"/>
          </a:xfrm>
          <a:prstGeom prst="rect">
            <a:avLst/>
          </a:prstGeom>
          <a:noFill/>
        </p:spPr>
        <p:txBody>
          <a:bodyPr wrap="none" rtlCol="0">
            <a:spAutoFit/>
          </a:bodyPr>
          <a:lstStyle/>
          <a:p>
            <a:r>
              <a:rPr lang="en-US" b="1" dirty="0"/>
              <a:t>Poisson / Laplace relations are on individual terms.</a:t>
            </a:r>
          </a:p>
          <a:p>
            <a:r>
              <a:rPr lang="en-US" b="1" dirty="0"/>
              <a:t>The permutation weight does not play a role here, but is important in computing the potential.</a:t>
            </a:r>
          </a:p>
        </p:txBody>
      </p:sp>
    </p:spTree>
    <p:extLst>
      <p:ext uri="{BB962C8B-B14F-4D97-AF65-F5344CB8AC3E}">
        <p14:creationId xmlns:p14="http://schemas.microsoft.com/office/powerpoint/2010/main" val="4191554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B4D871E-E41A-4452-89BA-C78430C0F026}"/>
              </a:ext>
            </a:extLst>
          </p:cNvPr>
          <p:cNvSpPr>
            <a:spLocks noGrp="1"/>
          </p:cNvSpPr>
          <p:nvPr>
            <p:ph type="ftr" sz="quarter" idx="11"/>
          </p:nvPr>
        </p:nvSpPr>
        <p:spPr/>
        <p:txBody>
          <a:bodyPr/>
          <a:lstStyle/>
          <a:p>
            <a:r>
              <a:rPr lang="en-US"/>
              <a:t>ISMS 2024 Coy, FieldComp Chemand Effective pPotentials</a:t>
            </a:r>
          </a:p>
        </p:txBody>
      </p:sp>
      <p:sp>
        <p:nvSpPr>
          <p:cNvPr id="3" name="Slide Number Placeholder 2">
            <a:extLst>
              <a:ext uri="{FF2B5EF4-FFF2-40B4-BE49-F238E27FC236}">
                <a16:creationId xmlns:a16="http://schemas.microsoft.com/office/drawing/2014/main" id="{B56A8588-0D9E-4143-9FE9-2D5AF6C9806C}"/>
              </a:ext>
            </a:extLst>
          </p:cNvPr>
          <p:cNvSpPr>
            <a:spLocks noGrp="1"/>
          </p:cNvSpPr>
          <p:nvPr>
            <p:ph type="sldNum" sz="quarter" idx="12"/>
          </p:nvPr>
        </p:nvSpPr>
        <p:spPr/>
        <p:txBody>
          <a:bodyPr/>
          <a:lstStyle/>
          <a:p>
            <a:fld id="{4100E85D-C03B-4CB7-A13D-94C0497B8BAA}" type="slidenum">
              <a:rPr lang="en-US" smtClean="0"/>
              <a:t>13</a:t>
            </a:fld>
            <a:endParaRPr lang="en-US"/>
          </a:p>
        </p:txBody>
      </p:sp>
      <p:sp>
        <p:nvSpPr>
          <p:cNvPr id="4" name="TextBox 3">
            <a:extLst>
              <a:ext uri="{FF2B5EF4-FFF2-40B4-BE49-F238E27FC236}">
                <a16:creationId xmlns:a16="http://schemas.microsoft.com/office/drawing/2014/main" id="{32DFE034-B608-495D-8F32-A0475F0FB11D}"/>
              </a:ext>
            </a:extLst>
          </p:cNvPr>
          <p:cNvSpPr txBox="1"/>
          <p:nvPr/>
        </p:nvSpPr>
        <p:spPr>
          <a:xfrm>
            <a:off x="2624920" y="143729"/>
            <a:ext cx="6942160" cy="830997"/>
          </a:xfrm>
          <a:prstGeom prst="rect">
            <a:avLst/>
          </a:prstGeom>
          <a:noFill/>
        </p:spPr>
        <p:txBody>
          <a:bodyPr wrap="square" rtlCol="0">
            <a:spAutoFit/>
          </a:bodyPr>
          <a:lstStyle/>
          <a:p>
            <a:pPr algn="ctr"/>
            <a:r>
              <a:rPr lang="en-US" sz="2400" b="1" i="0" u="none" strike="noStrike" baseline="0" dirty="0">
                <a:latin typeface="Arial" panose="020B0604020202020204" pitchFamily="34" charset="0"/>
                <a:cs typeface="Arial" panose="020B0604020202020204" pitchFamily="34" charset="0"/>
              </a:rPr>
              <a:t>Primitive to Traceless:  </a:t>
            </a:r>
          </a:p>
          <a:p>
            <a:pPr algn="ctr"/>
            <a:r>
              <a:rPr lang="en-US" sz="2400" b="1" i="0" u="none" strike="noStrike" baseline="0" dirty="0">
                <a:latin typeface="Arial" panose="020B0604020202020204" pitchFamily="34" charset="0"/>
                <a:cs typeface="Arial" panose="020B0604020202020204" pitchFamily="34" charset="0"/>
              </a:rPr>
              <a:t>Conclusions</a:t>
            </a:r>
          </a:p>
        </p:txBody>
      </p:sp>
      <p:sp>
        <p:nvSpPr>
          <p:cNvPr id="5" name="TextBox 4">
            <a:extLst>
              <a:ext uri="{FF2B5EF4-FFF2-40B4-BE49-F238E27FC236}">
                <a16:creationId xmlns:a16="http://schemas.microsoft.com/office/drawing/2014/main" id="{A57D7194-E4D3-4E3B-B9E0-3507DF2A606A}"/>
              </a:ext>
            </a:extLst>
          </p:cNvPr>
          <p:cNvSpPr txBox="1"/>
          <p:nvPr/>
        </p:nvSpPr>
        <p:spPr>
          <a:xfrm>
            <a:off x="1881178" y="1722081"/>
            <a:ext cx="7685902" cy="3893374"/>
          </a:xfrm>
          <a:prstGeom prst="rect">
            <a:avLst/>
          </a:prstGeom>
          <a:noFill/>
        </p:spPr>
        <p:txBody>
          <a:bodyPr wrap="square" rtlCol="0">
            <a:spAutoFit/>
          </a:bodyPr>
          <a:lstStyle/>
          <a:p>
            <a:pPr marL="285750" indent="-285750">
              <a:buFont typeface="Arial" panose="020B0604020202020204" pitchFamily="34" charset="0"/>
              <a:buChar char="•"/>
            </a:pPr>
            <a:r>
              <a:rPr lang="en-US" sz="1900" dirty="0"/>
              <a:t>Understanding of bonding and aspects of spectroscopy in electronic states can benefit from post-processing of wave functions</a:t>
            </a:r>
          </a:p>
          <a:p>
            <a:pPr marL="285750" indent="-285750">
              <a:buFont typeface="Arial" panose="020B0604020202020204" pitchFamily="34" charset="0"/>
              <a:buChar char="•"/>
            </a:pPr>
            <a:r>
              <a:rPr lang="en-US" sz="1900" dirty="0"/>
              <a:t>Traceless moments are spectroscopically relevant while traced moments are not, although they are easier to compute</a:t>
            </a:r>
          </a:p>
          <a:p>
            <a:pPr marL="742950" lvl="1" indent="-285750">
              <a:buFont typeface="Arial" panose="020B0604020202020204" pitchFamily="34" charset="0"/>
              <a:buChar char="•"/>
            </a:pPr>
            <a:r>
              <a:rPr lang="en-US" sz="1900" dirty="0"/>
              <a:t>Traceless quadrupoles were defined and measured by Buckingham and </a:t>
            </a:r>
            <a:r>
              <a:rPr lang="en-US" sz="1900" dirty="0" err="1"/>
              <a:t>Longuet-Higgens</a:t>
            </a:r>
            <a:endParaRPr lang="en-US" sz="1900" dirty="0"/>
          </a:p>
          <a:p>
            <a:pPr marL="742950" lvl="1" indent="-285750">
              <a:buFont typeface="Arial" panose="020B0604020202020204" pitchFamily="34" charset="0"/>
              <a:buChar char="•"/>
            </a:pPr>
            <a:r>
              <a:rPr lang="en-US" sz="1900" dirty="0"/>
              <a:t>Relevance of traceless quadrupoles  rather than traced, shown for birefringence by Sonia </a:t>
            </a:r>
            <a:r>
              <a:rPr lang="en-US" sz="1900" dirty="0" err="1"/>
              <a:t>Coriani</a:t>
            </a:r>
            <a:r>
              <a:rPr lang="en-US" sz="1900" dirty="0"/>
              <a:t> </a:t>
            </a:r>
          </a:p>
          <a:p>
            <a:pPr marL="742950" lvl="1" indent="-285750">
              <a:buFont typeface="Arial" panose="020B0604020202020204" pitchFamily="34" charset="0"/>
              <a:buChar char="•"/>
            </a:pPr>
            <a:r>
              <a:rPr lang="en-US" sz="1900" dirty="0"/>
              <a:t>Higher moments are useful to distinguish models of long range potentials including those for Rydberg spectra</a:t>
            </a:r>
          </a:p>
          <a:p>
            <a:pPr marL="285750" indent="-285750">
              <a:buFont typeface="Arial" panose="020B0604020202020204" pitchFamily="34" charset="0"/>
              <a:buChar char="•"/>
            </a:pPr>
            <a:r>
              <a:rPr lang="en-US" sz="1900" dirty="0"/>
              <a:t>Current CFOUR public version needs a fix for correct MOLDEN file output. A fix is available.</a:t>
            </a:r>
          </a:p>
          <a:p>
            <a:pPr marL="285750" indent="-285750">
              <a:buFont typeface="Arial" panose="020B0604020202020204" pitchFamily="34" charset="0"/>
              <a:buChar char="•"/>
            </a:pPr>
            <a:endParaRPr lang="en-US" sz="1900" dirty="0"/>
          </a:p>
        </p:txBody>
      </p:sp>
    </p:spTree>
    <p:extLst>
      <p:ext uri="{BB962C8B-B14F-4D97-AF65-F5344CB8AC3E}">
        <p14:creationId xmlns:p14="http://schemas.microsoft.com/office/powerpoint/2010/main" val="33757612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6019216-6FE5-48FB-984C-1E1F4DFBA0FA}"/>
              </a:ext>
            </a:extLst>
          </p:cNvPr>
          <p:cNvSpPr>
            <a:spLocks noGrp="1"/>
          </p:cNvSpPr>
          <p:nvPr>
            <p:ph type="ftr" sz="quarter" idx="11"/>
          </p:nvPr>
        </p:nvSpPr>
        <p:spPr/>
        <p:txBody>
          <a:bodyPr/>
          <a:lstStyle/>
          <a:p>
            <a:r>
              <a:rPr lang="en-US"/>
              <a:t>ISMS 2024 Coy, FieldComp Chemand Effective pPotentials</a:t>
            </a:r>
          </a:p>
        </p:txBody>
      </p:sp>
      <p:sp>
        <p:nvSpPr>
          <p:cNvPr id="3" name="Slide Number Placeholder 2">
            <a:extLst>
              <a:ext uri="{FF2B5EF4-FFF2-40B4-BE49-F238E27FC236}">
                <a16:creationId xmlns:a16="http://schemas.microsoft.com/office/drawing/2014/main" id="{54A61552-791D-4059-BE69-19120CD9FF3A}"/>
              </a:ext>
            </a:extLst>
          </p:cNvPr>
          <p:cNvSpPr>
            <a:spLocks noGrp="1"/>
          </p:cNvSpPr>
          <p:nvPr>
            <p:ph type="sldNum" sz="quarter" idx="12"/>
          </p:nvPr>
        </p:nvSpPr>
        <p:spPr/>
        <p:txBody>
          <a:bodyPr/>
          <a:lstStyle/>
          <a:p>
            <a:fld id="{4100E85D-C03B-4CB7-A13D-94C0497B8BAA}" type="slidenum">
              <a:rPr lang="en-US" smtClean="0"/>
              <a:t>14</a:t>
            </a:fld>
            <a:endParaRPr lang="en-US"/>
          </a:p>
        </p:txBody>
      </p:sp>
      <p:sp>
        <p:nvSpPr>
          <p:cNvPr id="5" name="TextBox 4">
            <a:extLst>
              <a:ext uri="{FF2B5EF4-FFF2-40B4-BE49-F238E27FC236}">
                <a16:creationId xmlns:a16="http://schemas.microsoft.com/office/drawing/2014/main" id="{55308A5D-5EAB-46E8-8073-91800D0D29EE}"/>
              </a:ext>
            </a:extLst>
          </p:cNvPr>
          <p:cNvSpPr txBox="1"/>
          <p:nvPr/>
        </p:nvSpPr>
        <p:spPr>
          <a:xfrm>
            <a:off x="827903" y="1028343"/>
            <a:ext cx="8319185" cy="1569660"/>
          </a:xfrm>
          <a:prstGeom prst="rect">
            <a:avLst/>
          </a:prstGeom>
          <a:noFill/>
        </p:spPr>
        <p:txBody>
          <a:bodyPr wrap="square">
            <a:spAutoFit/>
          </a:bodyPr>
          <a:lstStyle/>
          <a:p>
            <a:pPr marR="0"/>
            <a:r>
              <a:rPr lang="en-US" sz="1200" dirty="0">
                <a:latin typeface="Times New Roman" panose="02020603050405020304" pitchFamily="18" charset="0"/>
                <a:cs typeface="Times New Roman" panose="02020603050405020304" pitchFamily="18" charset="0"/>
              </a:rPr>
              <a:t>Field, R. W., J. H. </a:t>
            </a:r>
            <a:r>
              <a:rPr lang="en-US" sz="1200" dirty="0" err="1">
                <a:latin typeface="Times New Roman" panose="02020603050405020304" pitchFamily="18" charset="0"/>
                <a:cs typeface="Times New Roman" panose="02020603050405020304" pitchFamily="18" charset="0"/>
              </a:rPr>
              <a:t>Baraban</a:t>
            </a:r>
            <a:r>
              <a:rPr lang="en-US" sz="1200" dirty="0">
                <a:latin typeface="Times New Roman" panose="02020603050405020304" pitchFamily="18" charset="0"/>
                <a:cs typeface="Times New Roman" panose="02020603050405020304" pitchFamily="18" charset="0"/>
              </a:rPr>
              <a:t>, S. H. </a:t>
            </a:r>
            <a:r>
              <a:rPr lang="en-US" sz="1200" dirty="0" err="1">
                <a:latin typeface="Times New Roman" panose="02020603050405020304" pitchFamily="18" charset="0"/>
                <a:cs typeface="Times New Roman" panose="02020603050405020304" pitchFamily="18" charset="0"/>
              </a:rPr>
              <a:t>Lipoff</a:t>
            </a:r>
            <a:r>
              <a:rPr lang="en-US" sz="1200" dirty="0">
                <a:latin typeface="Times New Roman" panose="02020603050405020304" pitchFamily="18" charset="0"/>
                <a:cs typeface="Times New Roman" panose="02020603050405020304" pitchFamily="18" charset="0"/>
              </a:rPr>
              <a:t> and A. R. Beck (2011). Effective Hamiltonians for Electronic Fine Structure and Polyatomic Vibrations. In  </a:t>
            </a:r>
            <a:r>
              <a:rPr lang="en-US" sz="1200" u="sng" dirty="0">
                <a:latin typeface="Times New Roman" panose="02020603050405020304" pitchFamily="18" charset="0"/>
                <a:cs typeface="Times New Roman" panose="02020603050405020304" pitchFamily="18" charset="0"/>
              </a:rPr>
              <a:t>Handbook of High-resolution Spectroscopy, John Wiley &amp; Sons, Ltd, DOI: 10.1002/9780470749593.hrs061.</a:t>
            </a:r>
          </a:p>
          <a:p>
            <a:r>
              <a:rPr lang="en-US" sz="1200" dirty="0">
                <a:latin typeface="Times New Roman" panose="02020603050405020304" pitchFamily="18" charset="0"/>
                <a:cs typeface="Times New Roman" panose="02020603050405020304" pitchFamily="18" charset="0"/>
              </a:rPr>
              <a:t>Coy, S. L., D. D. Grimes, Y. Zhou, R. W. Field and B. M. Wong (2016). "Electric potential invariants and ions-in-molecules effective potentials for molecular Rydberg states." </a:t>
            </a:r>
            <a:r>
              <a:rPr lang="en-US" sz="1200" u="sng" dirty="0">
                <a:latin typeface="Times New Roman" panose="02020603050405020304" pitchFamily="18" charset="0"/>
                <a:cs typeface="Times New Roman" panose="02020603050405020304" pitchFamily="18" charset="0"/>
              </a:rPr>
              <a:t>Journal of Chemical Physics </a:t>
            </a:r>
            <a:r>
              <a:rPr lang="en-US" sz="1200" b="1" u="sng" dirty="0">
                <a:latin typeface="Times New Roman" panose="02020603050405020304" pitchFamily="18" charset="0"/>
                <a:cs typeface="Times New Roman" panose="02020603050405020304" pitchFamily="18" charset="0"/>
              </a:rPr>
              <a:t>145(23): 20, DOI: 10.1063/1.4968228.</a:t>
            </a:r>
          </a:p>
          <a:p>
            <a:pPr marR="0"/>
            <a:r>
              <a:rPr lang="en-US" sz="1200" dirty="0" err="1">
                <a:latin typeface="Times New Roman" panose="02020603050405020304" pitchFamily="18" charset="0"/>
                <a:cs typeface="Times New Roman" panose="02020603050405020304" pitchFamily="18" charset="0"/>
              </a:rPr>
              <a:t>Solina</a:t>
            </a:r>
            <a:r>
              <a:rPr lang="en-US" sz="1200" dirty="0">
                <a:latin typeface="Times New Roman" panose="02020603050405020304" pitchFamily="18" charset="0"/>
                <a:cs typeface="Times New Roman" panose="02020603050405020304" pitchFamily="18" charset="0"/>
              </a:rPr>
              <a:t>, S. A. B., J. P. Obrien, R. W. Field and W. F. </a:t>
            </a:r>
            <a:r>
              <a:rPr lang="en-US" sz="1200" dirty="0" err="1">
                <a:latin typeface="Times New Roman" panose="02020603050405020304" pitchFamily="18" charset="0"/>
                <a:cs typeface="Times New Roman" panose="02020603050405020304" pitchFamily="18" charset="0"/>
              </a:rPr>
              <a:t>Polik</a:t>
            </a:r>
            <a:r>
              <a:rPr lang="en-US" sz="1200" dirty="0">
                <a:latin typeface="Times New Roman" panose="02020603050405020304" pitchFamily="18" charset="0"/>
                <a:cs typeface="Times New Roman" panose="02020603050405020304" pitchFamily="18" charset="0"/>
              </a:rPr>
              <a:t> (1996). "Dispersed fluorescence spectrum of acetylene from the (A)over-tilde (1)A(u) origin: Recognition of polyads and test of </a:t>
            </a:r>
            <a:r>
              <a:rPr lang="en-US" sz="1200" dirty="0" err="1">
                <a:latin typeface="Times New Roman" panose="02020603050405020304" pitchFamily="18" charset="0"/>
                <a:cs typeface="Times New Roman" panose="02020603050405020304" pitchFamily="18" charset="0"/>
              </a:rPr>
              <a:t>multiresonant</a:t>
            </a:r>
            <a:r>
              <a:rPr lang="en-US" sz="1200" dirty="0">
                <a:latin typeface="Times New Roman" panose="02020603050405020304" pitchFamily="18" charset="0"/>
                <a:cs typeface="Times New Roman" panose="02020603050405020304" pitchFamily="18" charset="0"/>
              </a:rPr>
              <a:t> effective Hamiltonian model for the (X)over-tilde state." </a:t>
            </a:r>
            <a:r>
              <a:rPr lang="en-US" sz="1200" u="sng" dirty="0">
                <a:latin typeface="Times New Roman" panose="02020603050405020304" pitchFamily="18" charset="0"/>
                <a:cs typeface="Times New Roman" panose="02020603050405020304" pitchFamily="18" charset="0"/>
              </a:rPr>
              <a:t>Journal of Physical Chemistry </a:t>
            </a:r>
            <a:r>
              <a:rPr lang="en-US" sz="1200" b="1" u="sng" dirty="0">
                <a:latin typeface="Times New Roman" panose="02020603050405020304" pitchFamily="18" charset="0"/>
                <a:cs typeface="Times New Roman" panose="02020603050405020304" pitchFamily="18" charset="0"/>
              </a:rPr>
              <a:t>100(19): 7797-7809, DOI: 10.1021/jp953330s.</a:t>
            </a:r>
          </a:p>
        </p:txBody>
      </p:sp>
      <p:sp>
        <p:nvSpPr>
          <p:cNvPr id="6" name="TextBox 5">
            <a:extLst>
              <a:ext uri="{FF2B5EF4-FFF2-40B4-BE49-F238E27FC236}">
                <a16:creationId xmlns:a16="http://schemas.microsoft.com/office/drawing/2014/main" id="{C4A09F95-05F4-4166-8778-B79133DD1639}"/>
              </a:ext>
            </a:extLst>
          </p:cNvPr>
          <p:cNvSpPr txBox="1"/>
          <p:nvPr/>
        </p:nvSpPr>
        <p:spPr>
          <a:xfrm>
            <a:off x="827903" y="659011"/>
            <a:ext cx="1964512" cy="369332"/>
          </a:xfrm>
          <a:prstGeom prst="rect">
            <a:avLst/>
          </a:prstGeom>
          <a:noFill/>
        </p:spPr>
        <p:txBody>
          <a:bodyPr wrap="none" rtlCol="0">
            <a:spAutoFit/>
          </a:bodyPr>
          <a:lstStyle/>
          <a:p>
            <a:r>
              <a:rPr lang="en-US" dirty="0"/>
              <a:t>Effective Potentials</a:t>
            </a:r>
          </a:p>
        </p:txBody>
      </p:sp>
      <p:sp>
        <p:nvSpPr>
          <p:cNvPr id="7" name="TextBox 6">
            <a:extLst>
              <a:ext uri="{FF2B5EF4-FFF2-40B4-BE49-F238E27FC236}">
                <a16:creationId xmlns:a16="http://schemas.microsoft.com/office/drawing/2014/main" id="{D6B028FC-609F-4241-A730-2765207CD6D0}"/>
              </a:ext>
            </a:extLst>
          </p:cNvPr>
          <p:cNvSpPr txBox="1"/>
          <p:nvPr/>
        </p:nvSpPr>
        <p:spPr>
          <a:xfrm>
            <a:off x="959434" y="3140310"/>
            <a:ext cx="8221968" cy="2308324"/>
          </a:xfrm>
          <a:prstGeom prst="rect">
            <a:avLst/>
          </a:prstGeom>
          <a:noFill/>
        </p:spPr>
        <p:txBody>
          <a:bodyPr wrap="square">
            <a:spAutoFit/>
          </a:bodyPr>
          <a:lstStyle/>
          <a:p>
            <a:pPr marR="0"/>
            <a:r>
              <a:rPr lang="en-US" sz="1200" b="1" dirty="0">
                <a:latin typeface="Times New Roman" panose="02020603050405020304" pitchFamily="18" charset="0"/>
                <a:cs typeface="Times New Roman" panose="02020603050405020304" pitchFamily="18" charset="0"/>
              </a:rPr>
              <a:t>Christiansen, O., S. </a:t>
            </a:r>
            <a:r>
              <a:rPr lang="en-US" sz="1200" b="1" dirty="0" err="1">
                <a:latin typeface="Times New Roman" panose="02020603050405020304" pitchFamily="18" charset="0"/>
                <a:cs typeface="Times New Roman" panose="02020603050405020304" pitchFamily="18" charset="0"/>
              </a:rPr>
              <a:t>Coriani</a:t>
            </a:r>
            <a:r>
              <a:rPr lang="en-US" sz="1200" b="1" dirty="0">
                <a:latin typeface="Times New Roman" panose="02020603050405020304" pitchFamily="18" charset="0"/>
                <a:cs typeface="Times New Roman" panose="02020603050405020304" pitchFamily="18" charset="0"/>
              </a:rPr>
              <a:t>, J. Gauss, C. </a:t>
            </a:r>
            <a:r>
              <a:rPr lang="en-US" sz="1200" b="1" dirty="0" err="1">
                <a:latin typeface="Times New Roman" panose="02020603050405020304" pitchFamily="18" charset="0"/>
                <a:cs typeface="Times New Roman" panose="02020603050405020304" pitchFamily="18" charset="0"/>
              </a:rPr>
              <a:t>Hättig</a:t>
            </a:r>
            <a:r>
              <a:rPr lang="en-US" sz="1200" b="1" dirty="0">
                <a:latin typeface="Times New Roman" panose="02020603050405020304" pitchFamily="18" charset="0"/>
                <a:cs typeface="Times New Roman" panose="02020603050405020304" pitchFamily="18" charset="0"/>
              </a:rPr>
              <a:t>, P. </a:t>
            </a:r>
            <a:r>
              <a:rPr lang="en-US" sz="1200" b="1" dirty="0" err="1">
                <a:latin typeface="Times New Roman" panose="02020603050405020304" pitchFamily="18" charset="0"/>
                <a:cs typeface="Times New Roman" panose="02020603050405020304" pitchFamily="18" charset="0"/>
              </a:rPr>
              <a:t>JØrgensen</a:t>
            </a:r>
            <a:r>
              <a:rPr lang="en-US" sz="1200" b="1" dirty="0">
                <a:latin typeface="Times New Roman" panose="02020603050405020304" pitchFamily="18" charset="0"/>
                <a:cs typeface="Times New Roman" panose="02020603050405020304" pitchFamily="18" charset="0"/>
              </a:rPr>
              <a:t>, F. </a:t>
            </a:r>
            <a:r>
              <a:rPr lang="en-US" sz="1200" b="1" dirty="0" err="1">
                <a:latin typeface="Times New Roman" panose="02020603050405020304" pitchFamily="18" charset="0"/>
                <a:cs typeface="Times New Roman" panose="02020603050405020304" pitchFamily="18" charset="0"/>
              </a:rPr>
              <a:t>Pawłowski</a:t>
            </a:r>
            <a:r>
              <a:rPr lang="en-US" sz="1200" b="1" dirty="0">
                <a:latin typeface="Times New Roman" panose="02020603050405020304" pitchFamily="18" charset="0"/>
                <a:cs typeface="Times New Roman" panose="02020603050405020304" pitchFamily="18" charset="0"/>
              </a:rPr>
              <a:t> and A. Rizzo (2006). Accurate Nonlinear Optical Properties for Small Molecules. In  </a:t>
            </a:r>
            <a:r>
              <a:rPr lang="en-US" sz="1200" b="1" u="sng" dirty="0">
                <a:latin typeface="Times New Roman" panose="02020603050405020304" pitchFamily="18" charset="0"/>
                <a:cs typeface="Times New Roman" panose="02020603050405020304" pitchFamily="18" charset="0"/>
              </a:rPr>
              <a:t>Non-Linear Optical Properties of Matter: From Molecules to Condensed Phases. M. G. Papadopoulos, A. J. </a:t>
            </a:r>
            <a:r>
              <a:rPr lang="en-US" sz="1200" b="1" u="sng" dirty="0" err="1">
                <a:latin typeface="Times New Roman" panose="02020603050405020304" pitchFamily="18" charset="0"/>
                <a:cs typeface="Times New Roman" panose="02020603050405020304" pitchFamily="18" charset="0"/>
              </a:rPr>
              <a:t>Sadlej</a:t>
            </a:r>
            <a:r>
              <a:rPr lang="en-US" sz="1200" b="1" u="sng" dirty="0">
                <a:latin typeface="Times New Roman" panose="02020603050405020304" pitchFamily="18" charset="0"/>
                <a:cs typeface="Times New Roman" panose="02020603050405020304" pitchFamily="18" charset="0"/>
              </a:rPr>
              <a:t> and J. </a:t>
            </a:r>
            <a:r>
              <a:rPr lang="en-US" sz="1200" b="1" u="sng" dirty="0" err="1">
                <a:latin typeface="Times New Roman" panose="02020603050405020304" pitchFamily="18" charset="0"/>
                <a:cs typeface="Times New Roman" panose="02020603050405020304" pitchFamily="18" charset="0"/>
              </a:rPr>
              <a:t>Leszczynski</a:t>
            </a:r>
            <a:r>
              <a:rPr lang="en-US" sz="1200" b="1" u="sng" dirty="0">
                <a:latin typeface="Times New Roman" panose="02020603050405020304" pitchFamily="18" charset="0"/>
                <a:cs typeface="Times New Roman" panose="02020603050405020304" pitchFamily="18" charset="0"/>
              </a:rPr>
              <a:t>. Dordrecht, Springer Netherlands: 51-99, DOI: 10.1007/1-4020-4850-5_2.</a:t>
            </a:r>
          </a:p>
          <a:p>
            <a:pPr marR="0"/>
            <a:r>
              <a:rPr lang="en-US" sz="1200" b="1" dirty="0" err="1">
                <a:latin typeface="Times New Roman" panose="02020603050405020304" pitchFamily="18" charset="0"/>
                <a:cs typeface="Times New Roman" panose="02020603050405020304" pitchFamily="18" charset="0"/>
              </a:rPr>
              <a:t>Coriani</a:t>
            </a:r>
            <a:r>
              <a:rPr lang="en-US" sz="1200" b="1" dirty="0">
                <a:latin typeface="Times New Roman" panose="02020603050405020304" pitchFamily="18" charset="0"/>
                <a:cs typeface="Times New Roman" panose="02020603050405020304" pitchFamily="18" charset="0"/>
              </a:rPr>
              <a:t>, S., C. </a:t>
            </a:r>
            <a:r>
              <a:rPr lang="en-US" sz="1200" b="1" dirty="0" err="1">
                <a:latin typeface="Times New Roman" panose="02020603050405020304" pitchFamily="18" charset="0"/>
                <a:cs typeface="Times New Roman" panose="02020603050405020304" pitchFamily="18" charset="0"/>
              </a:rPr>
              <a:t>Puzzarini</a:t>
            </a:r>
            <a:r>
              <a:rPr lang="en-US" sz="1200" b="1" dirty="0">
                <a:latin typeface="Times New Roman" panose="02020603050405020304" pitchFamily="18" charset="0"/>
                <a:cs typeface="Times New Roman" panose="02020603050405020304" pitchFamily="18" charset="0"/>
              </a:rPr>
              <a:t> and A. Rizzo (2012). "First-order properties and Buckingham birefringence of N2O and OCS – A computational (re)investigation." </a:t>
            </a:r>
            <a:r>
              <a:rPr lang="en-US" sz="1200" b="1" u="sng" dirty="0">
                <a:latin typeface="Times New Roman" panose="02020603050405020304" pitchFamily="18" charset="0"/>
                <a:cs typeface="Times New Roman" panose="02020603050405020304" pitchFamily="18" charset="0"/>
              </a:rPr>
              <a:t>Molecular Physics 110(19-20): 2543-2555, DOI: 10.1080/00268976.2012.709284.</a:t>
            </a:r>
          </a:p>
          <a:p>
            <a:pPr marL="171450" marR="0" indent="-171450">
              <a:buFont typeface="Arial" panose="020B0604020202020204" pitchFamily="34" charset="0"/>
              <a:buChar char="•"/>
            </a:pPr>
            <a:r>
              <a:rPr lang="en-US" sz="1200" b="1" u="sng" dirty="0">
                <a:latin typeface="Times New Roman" panose="02020603050405020304" pitchFamily="18" charset="0"/>
                <a:cs typeface="Times New Roman" panose="02020603050405020304" pitchFamily="18" charset="0"/>
              </a:rPr>
              <a:t>“</a:t>
            </a:r>
          </a:p>
          <a:p>
            <a:pPr marL="171450" marR="0" indent="-171450">
              <a:buFont typeface="Arial" panose="020B0604020202020204" pitchFamily="34" charset="0"/>
              <a:buChar char="•"/>
            </a:pPr>
            <a:r>
              <a:rPr lang="en-US" sz="1200" b="1" u="sng" dirty="0">
                <a:latin typeface="Times New Roman" panose="02020603050405020304" pitchFamily="18" charset="0"/>
                <a:cs typeface="Times New Roman" panose="02020603050405020304" pitchFamily="18" charset="0"/>
              </a:rPr>
              <a:t>... in the case of CO, with reference in particular to the existing disagreement between two semiclassical theories for the interpretation of the experimentally observed birefringence. The present results favor the older theory due to Buckingham and </a:t>
            </a:r>
            <a:r>
              <a:rPr lang="en-US" sz="1200" b="1" u="sng" dirty="0" err="1">
                <a:latin typeface="Times New Roman" panose="02020603050405020304" pitchFamily="18" charset="0"/>
                <a:cs typeface="Times New Roman" panose="02020603050405020304" pitchFamily="18" charset="0"/>
              </a:rPr>
              <a:t>Longuet</a:t>
            </a:r>
            <a:r>
              <a:rPr lang="en-US" sz="1200" b="1" u="sng" dirty="0">
                <a:latin typeface="Times New Roman" panose="02020603050405020304" pitchFamily="18" charset="0"/>
                <a:cs typeface="Times New Roman" panose="02020603050405020304" pitchFamily="18" charset="0"/>
              </a:rPr>
              <a:t>-Higgins.“ The use of the traceless expansion is more consistent with experiment for the effect of quadrupole moment on </a:t>
            </a:r>
            <a:r>
              <a:rPr lang="en-US" sz="1200" b="1" u="sng" dirty="0" err="1">
                <a:latin typeface="Times New Roman" panose="02020603050405020304" pitchFamily="18" charset="0"/>
                <a:cs typeface="Times New Roman" panose="02020603050405020304" pitchFamily="18" charset="0"/>
              </a:rPr>
              <a:t>birefringenc</a:t>
            </a:r>
            <a:r>
              <a:rPr lang="en-US" sz="1200" b="1" u="sng" dirty="0">
                <a:latin typeface="Times New Roman" panose="02020603050405020304" pitchFamily="18" charset="0"/>
                <a:cs typeface="Times New Roman" panose="02020603050405020304" pitchFamily="18" charset="0"/>
              </a:rPr>
              <a:t>.</a:t>
            </a:r>
          </a:p>
          <a:p>
            <a:pPr marR="0"/>
            <a:endParaRPr lang="en-US" sz="1200" b="1" u="sng"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09C57FF-B68F-4337-8314-94DEBC51790C}"/>
              </a:ext>
            </a:extLst>
          </p:cNvPr>
          <p:cNvSpPr txBox="1"/>
          <p:nvPr/>
        </p:nvSpPr>
        <p:spPr>
          <a:xfrm>
            <a:off x="953409" y="2734336"/>
            <a:ext cx="3469219" cy="369332"/>
          </a:xfrm>
          <a:prstGeom prst="rect">
            <a:avLst/>
          </a:prstGeom>
          <a:noFill/>
        </p:spPr>
        <p:txBody>
          <a:bodyPr wrap="none" rtlCol="0">
            <a:spAutoFit/>
          </a:bodyPr>
          <a:lstStyle/>
          <a:p>
            <a:r>
              <a:rPr lang="en-US" dirty="0"/>
              <a:t>Traced or Traceless in spectroscopy</a:t>
            </a:r>
          </a:p>
        </p:txBody>
      </p:sp>
    </p:spTree>
    <p:extLst>
      <p:ext uri="{BB962C8B-B14F-4D97-AF65-F5344CB8AC3E}">
        <p14:creationId xmlns:p14="http://schemas.microsoft.com/office/powerpoint/2010/main" val="22071011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D9DCB22-3DCB-4FD5-A75B-37B9DB763B89}"/>
              </a:ext>
            </a:extLst>
          </p:cNvPr>
          <p:cNvSpPr>
            <a:spLocks noGrp="1"/>
          </p:cNvSpPr>
          <p:nvPr>
            <p:ph type="ftr" sz="quarter" idx="11"/>
          </p:nvPr>
        </p:nvSpPr>
        <p:spPr/>
        <p:txBody>
          <a:bodyPr/>
          <a:lstStyle/>
          <a:p>
            <a:r>
              <a:rPr lang="en-US"/>
              <a:t>ISMS 2024 Coy, FieldComp Chemand Effective pPotentials</a:t>
            </a:r>
          </a:p>
        </p:txBody>
      </p:sp>
      <p:sp>
        <p:nvSpPr>
          <p:cNvPr id="3" name="Slide Number Placeholder 2">
            <a:extLst>
              <a:ext uri="{FF2B5EF4-FFF2-40B4-BE49-F238E27FC236}">
                <a16:creationId xmlns:a16="http://schemas.microsoft.com/office/drawing/2014/main" id="{48A34D53-9CF1-4936-BFA7-0BEFDF2AF276}"/>
              </a:ext>
            </a:extLst>
          </p:cNvPr>
          <p:cNvSpPr>
            <a:spLocks noGrp="1"/>
          </p:cNvSpPr>
          <p:nvPr>
            <p:ph type="sldNum" sz="quarter" idx="12"/>
          </p:nvPr>
        </p:nvSpPr>
        <p:spPr/>
        <p:txBody>
          <a:bodyPr/>
          <a:lstStyle/>
          <a:p>
            <a:fld id="{4100E85D-C03B-4CB7-A13D-94C0497B8BAA}" type="slidenum">
              <a:rPr lang="en-US" smtClean="0"/>
              <a:t>15</a:t>
            </a:fld>
            <a:endParaRPr lang="en-US"/>
          </a:p>
        </p:txBody>
      </p:sp>
      <p:sp>
        <p:nvSpPr>
          <p:cNvPr id="5" name="TextBox 4">
            <a:extLst>
              <a:ext uri="{FF2B5EF4-FFF2-40B4-BE49-F238E27FC236}">
                <a16:creationId xmlns:a16="http://schemas.microsoft.com/office/drawing/2014/main" id="{2C9E9330-095B-44D9-AB96-033256A4C38E}"/>
              </a:ext>
            </a:extLst>
          </p:cNvPr>
          <p:cNvSpPr txBox="1"/>
          <p:nvPr/>
        </p:nvSpPr>
        <p:spPr>
          <a:xfrm>
            <a:off x="1196788" y="1425313"/>
            <a:ext cx="7950573" cy="1169551"/>
          </a:xfrm>
          <a:prstGeom prst="rect">
            <a:avLst/>
          </a:prstGeom>
          <a:noFill/>
        </p:spPr>
        <p:txBody>
          <a:bodyPr wrap="square">
            <a:spAutoFit/>
          </a:bodyPr>
          <a:lstStyle/>
          <a:p>
            <a:r>
              <a:rPr lang="en-US" sz="1400" b="1" dirty="0">
                <a:latin typeface="Times New Roman" panose="02020603050405020304" pitchFamily="18" charset="0"/>
                <a:cs typeface="Times New Roman" panose="02020603050405020304" pitchFamily="18" charset="0"/>
              </a:rPr>
              <a:t>Zangwill A (2012) Modern Electrodynamics. Cambridge U. Press, New York. doi:10.1017/CBO9781139034777</a:t>
            </a:r>
          </a:p>
          <a:p>
            <a:r>
              <a:rPr lang="en-US" sz="1400" b="1" dirty="0">
                <a:latin typeface="Times New Roman" panose="02020603050405020304" pitchFamily="18" charset="0"/>
                <a:cs typeface="Times New Roman" panose="02020603050405020304" pitchFamily="18" charset="0"/>
              </a:rPr>
              <a:t>Stone AJ (2013) The Theory of Intermolecular Forces, Second Edition. Oxford UP, Oxford. doi:10.1093/</a:t>
            </a:r>
            <a:r>
              <a:rPr lang="en-US" sz="1400" b="1" dirty="0" err="1">
                <a:latin typeface="Times New Roman" panose="02020603050405020304" pitchFamily="18" charset="0"/>
                <a:cs typeface="Times New Roman" panose="02020603050405020304" pitchFamily="18" charset="0"/>
              </a:rPr>
              <a:t>acprof:oso</a:t>
            </a:r>
            <a:r>
              <a:rPr lang="en-US" sz="1400" b="1" dirty="0">
                <a:latin typeface="Times New Roman" panose="02020603050405020304" pitchFamily="18" charset="0"/>
                <a:cs typeface="Times New Roman" panose="02020603050405020304" pitchFamily="18" charset="0"/>
              </a:rPr>
              <a:t>/9780199672394.001.0001</a:t>
            </a:r>
          </a:p>
          <a:p>
            <a:r>
              <a:rPr lang="en-US" sz="1400" b="1" dirty="0">
                <a:latin typeface="Times New Roman" panose="02020603050405020304" pitchFamily="18" charset="0"/>
                <a:cs typeface="Times New Roman" panose="02020603050405020304" pitchFamily="18" charset="0"/>
              </a:rPr>
              <a:t>Brink DM, </a:t>
            </a:r>
            <a:r>
              <a:rPr lang="en-US" sz="1400" b="1" dirty="0" err="1">
                <a:latin typeface="Times New Roman" panose="02020603050405020304" pitchFamily="18" charset="0"/>
                <a:cs typeface="Times New Roman" panose="02020603050405020304" pitchFamily="18" charset="0"/>
              </a:rPr>
              <a:t>Satchler</a:t>
            </a:r>
            <a:r>
              <a:rPr lang="en-US" sz="1400" b="1" dirty="0">
                <a:latin typeface="Times New Roman" panose="02020603050405020304" pitchFamily="18" charset="0"/>
                <a:cs typeface="Times New Roman" panose="02020603050405020304" pitchFamily="18" charset="0"/>
              </a:rPr>
              <a:t> GR (1993) or (1968)  Angular Momentum. Oxford, New York</a:t>
            </a:r>
          </a:p>
        </p:txBody>
      </p:sp>
      <p:sp>
        <p:nvSpPr>
          <p:cNvPr id="4" name="TextBox 3">
            <a:extLst>
              <a:ext uri="{FF2B5EF4-FFF2-40B4-BE49-F238E27FC236}">
                <a16:creationId xmlns:a16="http://schemas.microsoft.com/office/drawing/2014/main" id="{463B5BC4-83ED-45BC-AE6B-47F03BA08DF8}"/>
              </a:ext>
            </a:extLst>
          </p:cNvPr>
          <p:cNvSpPr txBox="1"/>
          <p:nvPr/>
        </p:nvSpPr>
        <p:spPr>
          <a:xfrm>
            <a:off x="1196788" y="946992"/>
            <a:ext cx="2192973" cy="369332"/>
          </a:xfrm>
          <a:prstGeom prst="rect">
            <a:avLst/>
          </a:prstGeom>
          <a:noFill/>
        </p:spPr>
        <p:txBody>
          <a:bodyPr wrap="none" rtlCol="0">
            <a:spAutoFit/>
          </a:bodyPr>
          <a:lstStyle/>
          <a:p>
            <a:r>
              <a:rPr lang="en-US" dirty="0"/>
              <a:t>Multipole expansions</a:t>
            </a:r>
          </a:p>
        </p:txBody>
      </p:sp>
      <p:sp>
        <p:nvSpPr>
          <p:cNvPr id="6" name="TextBox 5">
            <a:extLst>
              <a:ext uri="{FF2B5EF4-FFF2-40B4-BE49-F238E27FC236}">
                <a16:creationId xmlns:a16="http://schemas.microsoft.com/office/drawing/2014/main" id="{2F9AA147-14B3-4232-BC10-0A41D270ECF2}"/>
              </a:ext>
            </a:extLst>
          </p:cNvPr>
          <p:cNvSpPr txBox="1"/>
          <p:nvPr/>
        </p:nvSpPr>
        <p:spPr>
          <a:xfrm>
            <a:off x="967407" y="4263137"/>
            <a:ext cx="8920935" cy="738664"/>
          </a:xfrm>
          <a:prstGeom prst="rect">
            <a:avLst/>
          </a:prstGeom>
          <a:noFill/>
        </p:spPr>
        <p:txBody>
          <a:bodyPr wrap="square" rtlCol="0">
            <a:spAutoFit/>
          </a:bodyPr>
          <a:lstStyle/>
          <a:p>
            <a:r>
              <a:rPr lang="en-US" sz="1400" b="1" dirty="0" err="1">
                <a:latin typeface="Times New Roman" panose="02020603050405020304" pitchFamily="18" charset="0"/>
                <a:cs typeface="Times New Roman" panose="02020603050405020304" pitchFamily="18" charset="0"/>
              </a:rPr>
              <a:t>Steimle</a:t>
            </a:r>
            <a:r>
              <a:rPr lang="en-US" sz="1400" b="1" dirty="0">
                <a:latin typeface="Times New Roman" panose="02020603050405020304" pitchFamily="18" charset="0"/>
                <a:cs typeface="Times New Roman" panose="02020603050405020304" pitchFamily="18" charset="0"/>
              </a:rPr>
              <a:t> TC (2000) Permanent electric dipole moments of metal containing molecules. Int Rev Phys Chem 19 (3):455-477. doi:10.1080/01442350050034199</a:t>
            </a:r>
          </a:p>
          <a:p>
            <a:endParaRPr lang="en-US" sz="14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EC38450-56C3-4AEF-842D-5D69846F3656}"/>
              </a:ext>
            </a:extLst>
          </p:cNvPr>
          <p:cNvSpPr txBox="1"/>
          <p:nvPr/>
        </p:nvSpPr>
        <p:spPr>
          <a:xfrm>
            <a:off x="967407" y="3790876"/>
            <a:ext cx="2940164" cy="369332"/>
          </a:xfrm>
          <a:prstGeom prst="rect">
            <a:avLst/>
          </a:prstGeom>
          <a:noFill/>
        </p:spPr>
        <p:txBody>
          <a:bodyPr wrap="none" rtlCol="0">
            <a:spAutoFit/>
          </a:bodyPr>
          <a:lstStyle/>
          <a:p>
            <a:r>
              <a:rPr lang="en-US" dirty="0"/>
              <a:t>Dipole moments of </a:t>
            </a:r>
            <a:r>
              <a:rPr lang="en-US" dirty="0" err="1"/>
              <a:t>diatomics</a:t>
            </a:r>
            <a:endParaRPr lang="en-US" dirty="0"/>
          </a:p>
        </p:txBody>
      </p:sp>
    </p:spTree>
    <p:extLst>
      <p:ext uri="{BB962C8B-B14F-4D97-AF65-F5344CB8AC3E}">
        <p14:creationId xmlns:p14="http://schemas.microsoft.com/office/powerpoint/2010/main" val="23541875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1905</TotalTime>
  <Words>2278</Words>
  <Application>Microsoft Office PowerPoint</Application>
  <PresentationFormat>Widescreen</PresentationFormat>
  <Paragraphs>206</Paragraphs>
  <Slides>15</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2" baseType="lpstr">
      <vt:lpstr>Arial</vt:lpstr>
      <vt:lpstr>Calibri</vt:lpstr>
      <vt:lpstr>Calibri Light</vt:lpstr>
      <vt:lpstr>Courier New</vt:lpstr>
      <vt:lpstr>Times New Roman</vt: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Steve Coy</dc:creator>
  <cp:lastModifiedBy>Steve Coy</cp:lastModifiedBy>
  <cp:revision>129</cp:revision>
  <dcterms:created xsi:type="dcterms:W3CDTF">2024-06-04T19:49:19Z</dcterms:created>
  <dcterms:modified xsi:type="dcterms:W3CDTF">2024-06-18T03:55:54Z</dcterms:modified>
</cp:coreProperties>
</file>